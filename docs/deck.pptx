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white-paper.md"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086B"/>
        </a:solidFill>
      </p:bgPr>
    </p:bg>
    <p:spTree>
      <p:nvGrpSpPr>
        <p:cNvPr id="1" name=""/>
        <p:cNvGrpSpPr/>
        <p:nvPr/>
      </p:nvGrpSpPr>
      <p:grpSpPr>
        <a:xfrm>
          <a:off x="0" y="0"/>
          <a:ext cx="0" cy="0"/>
          <a:chOff x="0" y="0"/>
          <a:chExt cx="0" cy="0"/>
        </a:xfrm>
      </p:grpSpPr>
      <p:sp>
        <p:nvSpPr>
          <p:cNvPr id="2" name="Shape 0"/>
          <p:cNvSpPr/>
          <p:nvPr/>
        </p:nvSpPr>
        <p:spPr>
          <a:xfrm>
            <a:off x="5413248" y="685800"/>
            <a:ext cx="1371600" cy="1371600"/>
          </a:xfrm>
          <a:prstGeom prst="ellipse">
            <a:avLst/>
          </a:prstGeom>
          <a:solidFill>
            <a:srgbClr val="FFCC00"/>
          </a:solidFill>
          <a:ln/>
        </p:spPr>
      </p:sp>
      <p:sp>
        <p:nvSpPr>
          <p:cNvPr id="3" name="Text 1"/>
          <p:cNvSpPr/>
          <p:nvPr/>
        </p:nvSpPr>
        <p:spPr>
          <a:xfrm>
            <a:off x="5413248" y="685800"/>
            <a:ext cx="1371600" cy="1371600"/>
          </a:xfrm>
          <a:prstGeom prst="rect">
            <a:avLst/>
          </a:prstGeom>
          <a:noFill/>
          <a:ln/>
        </p:spPr>
        <p:txBody>
          <a:bodyPr wrap="square" lIns="0" tIns="0" rIns="0" bIns="0" rtlCol="0" anchor="ctr"/>
          <a:lstStyle/>
          <a:p>
            <a:pPr algn="ctr" indent="0" marL="0">
              <a:buNone/>
            </a:pPr>
            <a:r>
              <a:rPr lang="en-US" sz="4800" b="1" dirty="0">
                <a:solidFill>
                  <a:srgbClr val="04086B"/>
                </a:solidFill>
                <a:latin typeface="Cambria" pitchFamily="34" charset="0"/>
                <a:ea typeface="Cambria" pitchFamily="34" charset="-122"/>
                <a:cs typeface="Cambria" pitchFamily="34" charset="-120"/>
              </a:rPr>
              <a:t>$</a:t>
            </a:r>
            <a:endParaRPr lang="en-US" sz="4800" dirty="0"/>
          </a:p>
        </p:txBody>
      </p:sp>
      <p:sp>
        <p:nvSpPr>
          <p:cNvPr id="4" name="Text 2"/>
          <p:cNvSpPr/>
          <p:nvPr/>
        </p:nvSpPr>
        <p:spPr>
          <a:xfrm>
            <a:off x="731520" y="2331720"/>
            <a:ext cx="10725912" cy="1005840"/>
          </a:xfrm>
          <a:prstGeom prst="rect">
            <a:avLst/>
          </a:prstGeom>
          <a:noFill/>
          <a:ln/>
        </p:spPr>
        <p:txBody>
          <a:bodyPr wrap="square" lIns="0" tIns="0" rIns="0" bIns="0" rtlCol="0" anchor="ctr"/>
          <a:lstStyle/>
          <a:p>
            <a:pPr algn="ctr" indent="0" marL="0">
              <a:buNone/>
            </a:pPr>
            <a:r>
              <a:rPr lang="en-US" sz="4000" b="1" dirty="0">
                <a:solidFill>
                  <a:srgbClr val="FFCC00"/>
                </a:solidFill>
                <a:latin typeface="Cambria" pitchFamily="34" charset="0"/>
                <a:ea typeface="Cambria" pitchFamily="34" charset="-122"/>
                <a:cs typeface="Cambria" pitchFamily="34" charset="-120"/>
              </a:rPr>
              <a:t>JEOPARDY! WAGERING STRATEGY</a:t>
            </a:r>
            <a:endParaRPr lang="en-US" sz="4000" dirty="0"/>
          </a:p>
        </p:txBody>
      </p:sp>
      <p:sp>
        <p:nvSpPr>
          <p:cNvPr id="5" name="Text 3"/>
          <p:cNvSpPr/>
          <p:nvPr/>
        </p:nvSpPr>
        <p:spPr>
          <a:xfrm>
            <a:off x="1188720" y="3337560"/>
            <a:ext cx="9811512" cy="640080"/>
          </a:xfrm>
          <a:prstGeom prst="rect">
            <a:avLst/>
          </a:prstGeom>
          <a:noFill/>
          <a:ln/>
        </p:spPr>
        <p:txBody>
          <a:bodyPr wrap="square" lIns="0" tIns="0" rIns="0" bIns="0" rtlCol="0" anchor="ctr"/>
          <a:lstStyle/>
          <a:p>
            <a:pPr algn="ctr" indent="0" marL="0">
              <a:buNone/>
            </a:pPr>
            <a:r>
              <a:rPr lang="en-US" sz="1800" dirty="0">
                <a:solidFill>
                  <a:srgbClr val="E4E7FF"/>
                </a:solidFill>
                <a:latin typeface="Calibri" pitchFamily="34" charset="0"/>
                <a:ea typeface="Calibri" pitchFamily="34" charset="-122"/>
                <a:cs typeface="Calibri" pitchFamily="34" charset="-120"/>
              </a:rPr>
              <a:t>A plain-English guide to smarter Daily Double and Final Jeopardy bets</a:t>
            </a:r>
            <a:endParaRPr lang="en-US" sz="1800" dirty="0"/>
          </a:p>
        </p:txBody>
      </p:sp>
      <p:sp>
        <p:nvSpPr>
          <p:cNvPr id="6" name="Text 4"/>
          <p:cNvSpPr/>
          <p:nvPr/>
        </p:nvSpPr>
        <p:spPr>
          <a:xfrm>
            <a:off x="1188720" y="3931920"/>
            <a:ext cx="9811512" cy="457200"/>
          </a:xfrm>
          <a:prstGeom prst="rect">
            <a:avLst/>
          </a:prstGeom>
          <a:noFill/>
          <a:ln/>
        </p:spPr>
        <p:txBody>
          <a:bodyPr wrap="square" lIns="0" tIns="0" rIns="0" bIns="0" rtlCol="0" anchor="ctr"/>
          <a:lstStyle/>
          <a:p>
            <a:pPr algn="ctr" indent="0" marL="0">
              <a:buNone/>
            </a:pPr>
            <a:r>
              <a:rPr lang="en-US" sz="1300" i="1" dirty="0">
                <a:solidFill>
                  <a:srgbClr val="C9A227"/>
                </a:solidFill>
                <a:latin typeface="Calibri" pitchFamily="34" charset="0"/>
                <a:ea typeface="Calibri" pitchFamily="34" charset="-122"/>
                <a:cs typeface="Calibri" pitchFamily="34" charset="-120"/>
              </a:rPr>
              <a:t>Built for 3-player games, with 2-player and 1-player play as reduced cases</a:t>
            </a:r>
            <a:endParaRPr lang="en-US" sz="1300" dirty="0"/>
          </a:p>
        </p:txBody>
      </p:sp>
      <p:sp>
        <p:nvSpPr>
          <p:cNvPr id="7" name="Text 5"/>
          <p:cNvSpPr/>
          <p:nvPr/>
        </p:nvSpPr>
        <p:spPr>
          <a:xfrm>
            <a:off x="1188720" y="6126480"/>
            <a:ext cx="9811512" cy="365760"/>
          </a:xfrm>
          <a:prstGeom prst="rect">
            <a:avLst/>
          </a:prstGeom>
          <a:noFill/>
          <a:ln/>
        </p:spPr>
        <p:txBody>
          <a:bodyPr wrap="square" lIns="0" tIns="0" rIns="0" bIns="0" rtlCol="0" anchor="ctr"/>
          <a:lstStyle/>
          <a:p>
            <a:pPr algn="ctr" indent="0" marL="0">
              <a:buNone/>
            </a:pPr>
            <a:r>
              <a:rPr lang="en-US" sz="1000" dirty="0">
                <a:solidFill>
                  <a:srgbClr val="6E74B0"/>
                </a:solidFill>
                <a:latin typeface="Calibri" pitchFamily="34" charset="0"/>
                <a:ea typeface="Calibri" pitchFamily="34" charset="-122"/>
                <a:cs typeface="Calibri" pitchFamily="34" charset="-120"/>
              </a:rPr>
              <a:t>Not affiliated with Jeopardy! or Sony Pictures Television  •  A study and practice tool, not a live-assist device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indent="0" marL="0">
              <a:buNone/>
            </a:pPr>
            <a:r>
              <a:rPr lang="en-US" sz="3200" b="1" dirty="0">
                <a:solidFill>
                  <a:srgbClr val="13153A"/>
                </a:solidFill>
                <a:latin typeface="Cambria" pitchFamily="34" charset="0"/>
                <a:ea typeface="Cambria" pitchFamily="34" charset="-122"/>
                <a:cs typeface="Cambria" pitchFamily="34" charset="-120"/>
              </a:rPr>
              <a:t>Two moments decide the game</a:t>
            </a:r>
            <a:endParaRPr lang="en-US" sz="3200" dirty="0"/>
          </a:p>
        </p:txBody>
      </p:sp>
      <p:sp>
        <p:nvSpPr>
          <p:cNvPr id="3" name="Text 1"/>
          <p:cNvSpPr/>
          <p:nvPr/>
        </p:nvSpPr>
        <p:spPr>
          <a:xfrm>
            <a:off x="548640" y="1051560"/>
            <a:ext cx="11091672" cy="457200"/>
          </a:xfrm>
          <a:prstGeom prst="rect">
            <a:avLst/>
          </a:prstGeom>
          <a:noFill/>
          <a:ln/>
        </p:spPr>
        <p:txBody>
          <a:bodyPr wrap="square" lIns="0" tIns="0" rIns="0" bIns="0" rtlCol="0" anchor="ctr"/>
          <a:lstStyle/>
          <a:p>
            <a:pPr indent="0" marL="0">
              <a:buNone/>
            </a:pPr>
            <a:r>
              <a:rPr lang="en-US" sz="1400" dirty="0">
                <a:solidFill>
                  <a:srgbClr val="4A4E7A"/>
                </a:solidFill>
                <a:latin typeface="Calibri" pitchFamily="34" charset="0"/>
                <a:ea typeface="Calibri" pitchFamily="34" charset="-122"/>
                <a:cs typeface="Calibri" pitchFamily="34" charset="-120"/>
              </a:rPr>
              <a:t>Everything else is trivia and buzzer speed. These two moments are where a dollar amount, not a fact, decides who wins.</a:t>
            </a:r>
            <a:endParaRPr lang="en-US" sz="1400" dirty="0"/>
          </a:p>
        </p:txBody>
      </p:sp>
      <p:sp>
        <p:nvSpPr>
          <p:cNvPr id="4" name="Shape 2"/>
          <p:cNvSpPr/>
          <p:nvPr/>
        </p:nvSpPr>
        <p:spPr>
          <a:xfrm>
            <a:off x="548640" y="1920240"/>
            <a:ext cx="5257800" cy="4114800"/>
          </a:xfrm>
          <a:prstGeom prst="roundRect">
            <a:avLst>
              <a:gd name="adj" fmla="val 2667"/>
            </a:avLst>
          </a:prstGeom>
          <a:solidFill>
            <a:srgbClr val="F4F5FF"/>
          </a:solidFill>
          <a:ln/>
          <a:effectLst>
            <a:outerShdw sx="100000" sy="100000" kx="0" ky="0" algn="bl" rotWithShape="0" blurRad="76200" dist="38100" dir="5400000">
              <a:srgbClr val="1B1B3A">
                <a:alpha val="18000"/>
              </a:srgbClr>
            </a:outerShdw>
          </a:effectLst>
        </p:spPr>
      </p:sp>
      <p:sp>
        <p:nvSpPr>
          <p:cNvPr id="5" name="Shape 3"/>
          <p:cNvSpPr/>
          <p:nvPr/>
        </p:nvSpPr>
        <p:spPr>
          <a:xfrm>
            <a:off x="868680" y="2240280"/>
            <a:ext cx="731520" cy="731520"/>
          </a:xfrm>
          <a:prstGeom prst="ellipse">
            <a:avLst/>
          </a:prstGeom>
          <a:solidFill>
            <a:srgbClr val="0A17B8"/>
          </a:solidFill>
          <a:ln/>
        </p:spPr>
      </p:sp>
      <p:sp>
        <p:nvSpPr>
          <p:cNvPr id="6" name="Text 4"/>
          <p:cNvSpPr/>
          <p:nvPr/>
        </p:nvSpPr>
        <p:spPr>
          <a:xfrm>
            <a:off x="868680" y="22402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7" name="Text 5"/>
          <p:cNvSpPr/>
          <p:nvPr/>
        </p:nvSpPr>
        <p:spPr>
          <a:xfrm>
            <a:off x="1783080" y="2286000"/>
            <a:ext cx="3749040" cy="457200"/>
          </a:xfrm>
          <a:prstGeom prst="rect">
            <a:avLst/>
          </a:prstGeom>
          <a:noFill/>
          <a:ln/>
        </p:spPr>
        <p:txBody>
          <a:bodyPr wrap="square" lIns="0" tIns="0" rIns="0" bIns="0" rtlCol="0" anchor="ctr"/>
          <a:lstStyle/>
          <a:p>
            <a:pPr indent="0" marL="0">
              <a:buNone/>
            </a:pPr>
            <a:r>
              <a:rPr lang="en-US" sz="2000" b="1" dirty="0">
                <a:solidFill>
                  <a:srgbClr val="13153A"/>
                </a:solidFill>
                <a:latin typeface="Cambria" pitchFamily="34" charset="0"/>
                <a:ea typeface="Cambria" pitchFamily="34" charset="-122"/>
                <a:cs typeface="Cambria" pitchFamily="34" charset="-120"/>
              </a:rPr>
              <a:t>Daily Double</a:t>
            </a:r>
            <a:endParaRPr lang="en-US" sz="2000" dirty="0"/>
          </a:p>
        </p:txBody>
      </p:sp>
      <p:sp>
        <p:nvSpPr>
          <p:cNvPr id="8" name="Text 6"/>
          <p:cNvSpPr/>
          <p:nvPr/>
        </p:nvSpPr>
        <p:spPr>
          <a:xfrm>
            <a:off x="868680" y="3154680"/>
            <a:ext cx="4617720" cy="2560320"/>
          </a:xfrm>
          <a:prstGeom prst="rect">
            <a:avLst/>
          </a:prstGeom>
          <a:noFill/>
          <a:ln/>
        </p:spPr>
        <p:txBody>
          <a:bodyPr wrap="square" lIns="0" tIns="0" rIns="0" bIns="0" rtlCol="0" anchor="ctr"/>
          <a:lstStyle/>
          <a:p>
            <a:pPr indent="0" marL="0">
              <a:lnSpc>
                <a:spcPct val="130000"/>
              </a:lnSpc>
              <a:buNone/>
            </a:pPr>
            <a:r>
              <a:rPr lang="en-US" sz="1400" dirty="0">
                <a:solidFill>
                  <a:srgbClr val="13153A"/>
                </a:solidFill>
                <a:latin typeface="Calibri" pitchFamily="34" charset="0"/>
                <a:ea typeface="Calibri" pitchFamily="34" charset="-122"/>
                <a:cs typeface="Calibri" pitchFamily="34" charset="-120"/>
              </a:rPr>
              <a:t>Found mid-game, while a category is in play. You choose the wager before you know the exact clue.</a:t>
            </a:r>
            <a:endParaRPr lang="en-US" sz="1400" dirty="0"/>
          </a:p>
          <a:p>
            <a:pPr indent="0" marL="0">
              <a:lnSpc>
                <a:spcPct val="130000"/>
              </a:lnSpc>
              <a:buNone/>
            </a:pPr>
            <a:endParaRPr lang="en-US" sz="1400" dirty="0"/>
          </a:p>
          <a:p>
            <a:pPr indent="0" marL="0">
              <a:lnSpc>
                <a:spcPct val="130000"/>
              </a:lnSpc>
              <a:buNone/>
            </a:pPr>
            <a:r>
              <a:rPr lang="en-US" sz="1400" dirty="0">
                <a:solidFill>
                  <a:srgbClr val="13153A"/>
                </a:solidFill>
                <a:latin typeface="Calibri" pitchFamily="34" charset="0"/>
                <a:ea typeface="Calibri" pitchFamily="34" charset="-122"/>
                <a:cs typeface="Calibri" pitchFamily="34" charset="-120"/>
              </a:rPr>
              <a:t>The decision affects the rest of the game, not just the next 30 seconds -- more clues, maybe another Daily Double, then Final Jeopardy after that.</a:t>
            </a:r>
            <a:endParaRPr lang="en-US" sz="1400" dirty="0"/>
          </a:p>
        </p:txBody>
      </p:sp>
      <p:sp>
        <p:nvSpPr>
          <p:cNvPr id="9" name="Shape 7"/>
          <p:cNvSpPr/>
          <p:nvPr/>
        </p:nvSpPr>
        <p:spPr>
          <a:xfrm>
            <a:off x="6382512" y="1920240"/>
            <a:ext cx="5257800" cy="4114800"/>
          </a:xfrm>
          <a:prstGeom prst="roundRect">
            <a:avLst>
              <a:gd name="adj" fmla="val 2667"/>
            </a:avLst>
          </a:prstGeom>
          <a:solidFill>
            <a:srgbClr val="F4F5FF"/>
          </a:solidFill>
          <a:ln/>
          <a:effectLst>
            <a:outerShdw sx="100000" sy="100000" kx="0" ky="0" algn="bl" rotWithShape="0" blurRad="76200" dist="38100" dir="5400000">
              <a:srgbClr val="1B1B3A">
                <a:alpha val="18000"/>
              </a:srgbClr>
            </a:outerShdw>
          </a:effectLst>
        </p:spPr>
      </p:sp>
      <p:sp>
        <p:nvSpPr>
          <p:cNvPr id="10" name="Shape 8"/>
          <p:cNvSpPr/>
          <p:nvPr/>
        </p:nvSpPr>
        <p:spPr>
          <a:xfrm>
            <a:off x="6702552" y="2240280"/>
            <a:ext cx="731520" cy="731520"/>
          </a:xfrm>
          <a:prstGeom prst="ellipse">
            <a:avLst/>
          </a:prstGeom>
          <a:solidFill>
            <a:srgbClr val="FFCC00"/>
          </a:solidFill>
          <a:ln/>
        </p:spPr>
      </p:sp>
      <p:sp>
        <p:nvSpPr>
          <p:cNvPr id="11" name="Text 9"/>
          <p:cNvSpPr/>
          <p:nvPr/>
        </p:nvSpPr>
        <p:spPr>
          <a:xfrm>
            <a:off x="6702552" y="2240280"/>
            <a:ext cx="731520" cy="731520"/>
          </a:xfrm>
          <a:prstGeom prst="rect">
            <a:avLst/>
          </a:prstGeom>
          <a:noFill/>
          <a:ln/>
        </p:spPr>
        <p:txBody>
          <a:bodyPr wrap="square" lIns="0" tIns="0" rIns="0" bIns="0" rtlCol="0" anchor="ctr"/>
          <a:lstStyle/>
          <a:p>
            <a:pPr algn="ctr" indent="0" marL="0">
              <a:buNone/>
            </a:pPr>
            <a:r>
              <a:rPr lang="en-US" sz="2600" b="1" dirty="0">
                <a:solidFill>
                  <a:srgbClr val="04086B"/>
                </a:solidFill>
                <a:latin typeface="Cambria" pitchFamily="34" charset="0"/>
                <a:ea typeface="Cambria" pitchFamily="34" charset="-122"/>
                <a:cs typeface="Cambria" pitchFamily="34" charset="-120"/>
              </a:rPr>
              <a:t>?</a:t>
            </a:r>
            <a:endParaRPr lang="en-US" sz="2600" dirty="0"/>
          </a:p>
        </p:txBody>
      </p:sp>
      <p:sp>
        <p:nvSpPr>
          <p:cNvPr id="12" name="Text 10"/>
          <p:cNvSpPr/>
          <p:nvPr/>
        </p:nvSpPr>
        <p:spPr>
          <a:xfrm>
            <a:off x="7616952" y="2286000"/>
            <a:ext cx="3749040" cy="457200"/>
          </a:xfrm>
          <a:prstGeom prst="rect">
            <a:avLst/>
          </a:prstGeom>
          <a:noFill/>
          <a:ln/>
        </p:spPr>
        <p:txBody>
          <a:bodyPr wrap="square" lIns="0" tIns="0" rIns="0" bIns="0" rtlCol="0" anchor="ctr"/>
          <a:lstStyle/>
          <a:p>
            <a:pPr indent="0" marL="0">
              <a:buNone/>
            </a:pPr>
            <a:r>
              <a:rPr lang="en-US" sz="2000" b="1" dirty="0">
                <a:solidFill>
                  <a:srgbClr val="13153A"/>
                </a:solidFill>
                <a:latin typeface="Cambria" pitchFamily="34" charset="0"/>
                <a:ea typeface="Cambria" pitchFamily="34" charset="-122"/>
                <a:cs typeface="Cambria" pitchFamily="34" charset="-120"/>
              </a:rPr>
              <a:t>Final Jeopardy</a:t>
            </a:r>
            <a:endParaRPr lang="en-US" sz="2000" dirty="0"/>
          </a:p>
        </p:txBody>
      </p:sp>
      <p:sp>
        <p:nvSpPr>
          <p:cNvPr id="13" name="Text 11"/>
          <p:cNvSpPr/>
          <p:nvPr/>
        </p:nvSpPr>
        <p:spPr>
          <a:xfrm>
            <a:off x="6702552" y="3154680"/>
            <a:ext cx="4617720" cy="2560320"/>
          </a:xfrm>
          <a:prstGeom prst="rect">
            <a:avLst/>
          </a:prstGeom>
          <a:noFill/>
          <a:ln/>
        </p:spPr>
        <p:txBody>
          <a:bodyPr wrap="square" lIns="0" tIns="0" rIns="0" bIns="0" rtlCol="0" anchor="ctr"/>
          <a:lstStyle/>
          <a:p>
            <a:pPr indent="0" marL="0">
              <a:lnSpc>
                <a:spcPct val="130000"/>
              </a:lnSpc>
              <a:buNone/>
            </a:pPr>
            <a:r>
              <a:rPr lang="en-US" sz="1400" dirty="0">
                <a:solidFill>
                  <a:srgbClr val="13153A"/>
                </a:solidFill>
                <a:latin typeface="Calibri" pitchFamily="34" charset="0"/>
                <a:ea typeface="Calibri" pitchFamily="34" charset="-122"/>
                <a:cs typeface="Calibri" pitchFamily="34" charset="-120"/>
              </a:rPr>
              <a:t>The last clue of the game. Every player wagers, then answers the same category.</a:t>
            </a:r>
            <a:endParaRPr lang="en-US" sz="1400" dirty="0"/>
          </a:p>
          <a:p>
            <a:pPr indent="0" marL="0">
              <a:lnSpc>
                <a:spcPct val="130000"/>
              </a:lnSpc>
              <a:buNone/>
            </a:pPr>
            <a:endParaRPr lang="en-US" sz="1400" dirty="0"/>
          </a:p>
          <a:p>
            <a:pPr indent="0" marL="0">
              <a:lnSpc>
                <a:spcPct val="130000"/>
              </a:lnSpc>
              <a:buNone/>
            </a:pPr>
            <a:r>
              <a:rPr lang="en-US" sz="1400" dirty="0">
                <a:solidFill>
                  <a:srgbClr val="13153A"/>
                </a:solidFill>
                <a:latin typeface="Calibri" pitchFamily="34" charset="0"/>
                <a:ea typeface="Calibri" pitchFamily="34" charset="-122"/>
                <a:cs typeface="Calibri" pitchFamily="34" charset="-120"/>
              </a:rPr>
              <a:t>A single terminal event -- the math here is fully determined, with a clean guarantee-based answer available before you even see the clue.</a:t>
            </a:r>
            <a:endParaRPr lang="en-US" sz="1400" dirty="0"/>
          </a:p>
        </p:txBody>
      </p:sp>
      <p:sp>
        <p:nvSpPr>
          <p:cNvPr id="14" name="Text 12"/>
          <p:cNvSpPr/>
          <p:nvPr/>
        </p:nvSpPr>
        <p:spPr>
          <a:xfrm>
            <a:off x="11475720" y="6446520"/>
            <a:ext cx="457200" cy="274320"/>
          </a:xfrm>
          <a:prstGeom prst="rect">
            <a:avLst/>
          </a:prstGeom>
          <a:noFill/>
          <a:ln/>
        </p:spPr>
        <p:txBody>
          <a:bodyPr wrap="square" lIns="0" tIns="0" rIns="0" bIns="0" rtlCol="0" anchor="ctr"/>
          <a:lstStyle/>
          <a:p>
            <a:pPr algn="r" indent="0" marL="0">
              <a:buNone/>
            </a:pPr>
            <a:r>
              <a:rPr lang="en-US" sz="1000" dirty="0">
                <a:solidFill>
                  <a:srgbClr val="4A4E7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indent="0" marL="0">
              <a:buNone/>
            </a:pPr>
            <a:r>
              <a:rPr lang="en-US" sz="3200" b="1" dirty="0">
                <a:solidFill>
                  <a:srgbClr val="13153A"/>
                </a:solidFill>
                <a:latin typeface="Cambria" pitchFamily="34" charset="0"/>
                <a:ea typeface="Cambria" pitchFamily="34" charset="-122"/>
                <a:cs typeface="Cambria" pitchFamily="34" charset="-120"/>
              </a:rPr>
              <a:t>Two different questions, not one</a:t>
            </a:r>
            <a:endParaRPr lang="en-US" sz="3200" dirty="0"/>
          </a:p>
        </p:txBody>
      </p:sp>
      <p:sp>
        <p:nvSpPr>
          <p:cNvPr id="3" name="Text 1"/>
          <p:cNvSpPr/>
          <p:nvPr/>
        </p:nvSpPr>
        <p:spPr>
          <a:xfrm>
            <a:off x="548640" y="1051560"/>
            <a:ext cx="11091672" cy="457200"/>
          </a:xfrm>
          <a:prstGeom prst="rect">
            <a:avLst/>
          </a:prstGeom>
          <a:noFill/>
          <a:ln/>
        </p:spPr>
        <p:txBody>
          <a:bodyPr wrap="square" lIns="0" tIns="0" rIns="0" bIns="0" rtlCol="0" anchor="ctr"/>
          <a:lstStyle/>
          <a:p>
            <a:pPr indent="0" marL="0">
              <a:buNone/>
            </a:pPr>
            <a:r>
              <a:rPr lang="en-US" sz="1400" dirty="0">
                <a:solidFill>
                  <a:srgbClr val="4A4E7A"/>
                </a:solidFill>
                <a:latin typeface="Calibri" pitchFamily="34" charset="0"/>
                <a:ea typeface="Calibri" pitchFamily="34" charset="-122"/>
                <a:cs typeface="Calibri" pitchFamily="34" charset="-120"/>
              </a:rPr>
              <a:t>This project treats them as two separate tools. Blending them into one answer hides which one you actually asked for.</a:t>
            </a:r>
            <a:endParaRPr lang="en-US" sz="1400" dirty="0"/>
          </a:p>
        </p:txBody>
      </p:sp>
      <p:sp>
        <p:nvSpPr>
          <p:cNvPr id="4" name="Shape 2"/>
          <p:cNvSpPr/>
          <p:nvPr/>
        </p:nvSpPr>
        <p:spPr>
          <a:xfrm>
            <a:off x="548640" y="1965960"/>
            <a:ext cx="11091672" cy="1828800"/>
          </a:xfrm>
          <a:prstGeom prst="roundRect">
            <a:avLst>
              <a:gd name="adj" fmla="val 5000"/>
            </a:avLst>
          </a:prstGeom>
          <a:solidFill>
            <a:srgbClr val="F4F5FF"/>
          </a:solidFill>
          <a:ln/>
        </p:spPr>
      </p:sp>
      <p:sp>
        <p:nvSpPr>
          <p:cNvPr id="5" name="Text 3"/>
          <p:cNvSpPr/>
          <p:nvPr/>
        </p:nvSpPr>
        <p:spPr>
          <a:xfrm>
            <a:off x="868680" y="2194560"/>
            <a:ext cx="2103120" cy="502920"/>
          </a:xfrm>
          <a:prstGeom prst="rect">
            <a:avLst/>
          </a:prstGeom>
          <a:solidFill>
            <a:srgbClr val="0A17B8"/>
          </a:solid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SAFE BET</a:t>
            </a:r>
            <a:endParaRPr lang="en-US" sz="1500" dirty="0"/>
          </a:p>
        </p:txBody>
      </p:sp>
      <p:sp>
        <p:nvSpPr>
          <p:cNvPr id="6" name="Text 4"/>
          <p:cNvSpPr/>
          <p:nvPr/>
        </p:nvSpPr>
        <p:spPr>
          <a:xfrm>
            <a:off x="3200400" y="2167128"/>
            <a:ext cx="8138160" cy="548640"/>
          </a:xfrm>
          <a:prstGeom prst="rect">
            <a:avLst/>
          </a:prstGeom>
          <a:noFill/>
          <a:ln/>
        </p:spPr>
        <p:txBody>
          <a:bodyPr wrap="square" lIns="0" tIns="0" rIns="0" bIns="0" rtlCol="0" anchor="ctr"/>
          <a:lstStyle/>
          <a:p>
            <a:pPr indent="0" marL="0">
              <a:buNone/>
            </a:pPr>
            <a:r>
              <a:rPr lang="en-US" sz="1800" b="1" i="1" dirty="0">
                <a:solidFill>
                  <a:srgbClr val="13153A"/>
                </a:solidFill>
                <a:latin typeface="Cambria" pitchFamily="34" charset="0"/>
                <a:ea typeface="Cambria" pitchFamily="34" charset="-122"/>
                <a:cs typeface="Cambria" pitchFamily="34" charset="-120"/>
              </a:rPr>
              <a:t>“What wager can't hurt me if I'm right?”</a:t>
            </a:r>
            <a:endParaRPr lang="en-US" sz="1800" dirty="0"/>
          </a:p>
        </p:txBody>
      </p:sp>
      <p:sp>
        <p:nvSpPr>
          <p:cNvPr id="7" name="Text 5"/>
          <p:cNvSpPr/>
          <p:nvPr/>
        </p:nvSpPr>
        <p:spPr>
          <a:xfrm>
            <a:off x="3200400" y="2788920"/>
            <a:ext cx="8138160" cy="822960"/>
          </a:xfrm>
          <a:prstGeom prst="rect">
            <a:avLst/>
          </a:prstGeom>
          <a:noFill/>
          <a:ln/>
        </p:spPr>
        <p:txBody>
          <a:bodyPr wrap="square" lIns="0" tIns="0" rIns="0" bIns="0" rtlCol="0" anchor="ctr"/>
          <a:lstStyle/>
          <a:p>
            <a:pPr indent="0" marL="0">
              <a:lnSpc>
                <a:spcPct val="125000"/>
              </a:lnSpc>
              <a:buNone/>
            </a:pPr>
            <a:r>
              <a:rPr lang="en-US" sz="1400" dirty="0">
                <a:solidFill>
                  <a:srgbClr val="4A4E7A"/>
                </a:solidFill>
                <a:latin typeface="Calibri" pitchFamily="34" charset="0"/>
                <a:ea typeface="Calibri" pitchFamily="34" charset="-122"/>
                <a:cs typeface="Calibri" pitchFamily="34" charset="-120"/>
              </a:rPr>
              <a:t>A guarantee against the worst realistic case. Needs no estimate of your odds of being correct.</a:t>
            </a:r>
            <a:endParaRPr lang="en-US" sz="1400" dirty="0"/>
          </a:p>
        </p:txBody>
      </p:sp>
      <p:sp>
        <p:nvSpPr>
          <p:cNvPr id="8" name="Shape 6"/>
          <p:cNvSpPr/>
          <p:nvPr/>
        </p:nvSpPr>
        <p:spPr>
          <a:xfrm>
            <a:off x="548640" y="4160520"/>
            <a:ext cx="11091672" cy="1828800"/>
          </a:xfrm>
          <a:prstGeom prst="roundRect">
            <a:avLst>
              <a:gd name="adj" fmla="val 5000"/>
            </a:avLst>
          </a:prstGeom>
          <a:solidFill>
            <a:srgbClr val="FFFBEA"/>
          </a:solidFill>
          <a:ln/>
        </p:spPr>
      </p:sp>
      <p:sp>
        <p:nvSpPr>
          <p:cNvPr id="9" name="Text 7"/>
          <p:cNvSpPr/>
          <p:nvPr/>
        </p:nvSpPr>
        <p:spPr>
          <a:xfrm>
            <a:off x="868680" y="4389120"/>
            <a:ext cx="2103120" cy="502920"/>
          </a:xfrm>
          <a:prstGeom prst="rect">
            <a:avLst/>
          </a:prstGeom>
          <a:solidFill>
            <a:srgbClr val="FFCC00"/>
          </a:solidFill>
          <a:ln/>
        </p:spPr>
        <p:txBody>
          <a:bodyPr wrap="square" lIns="0" tIns="0" rIns="0" bIns="0" rtlCol="0" anchor="ctr"/>
          <a:lstStyle/>
          <a:p>
            <a:pPr algn="ctr" indent="0" marL="0">
              <a:buNone/>
            </a:pPr>
            <a:r>
              <a:rPr lang="en-US" sz="1500" b="1" dirty="0">
                <a:solidFill>
                  <a:srgbClr val="04086B"/>
                </a:solidFill>
                <a:latin typeface="Cambria" pitchFamily="34" charset="0"/>
                <a:ea typeface="Cambria" pitchFamily="34" charset="-122"/>
                <a:cs typeface="Cambria" pitchFamily="34" charset="-120"/>
              </a:rPr>
              <a:t>SMART BET</a:t>
            </a:r>
            <a:endParaRPr lang="en-US" sz="1500" dirty="0"/>
          </a:p>
        </p:txBody>
      </p:sp>
      <p:sp>
        <p:nvSpPr>
          <p:cNvPr id="10" name="Text 8"/>
          <p:cNvSpPr/>
          <p:nvPr/>
        </p:nvSpPr>
        <p:spPr>
          <a:xfrm>
            <a:off x="3200400" y="4361688"/>
            <a:ext cx="8138160" cy="548640"/>
          </a:xfrm>
          <a:prstGeom prst="rect">
            <a:avLst/>
          </a:prstGeom>
          <a:noFill/>
          <a:ln/>
        </p:spPr>
        <p:txBody>
          <a:bodyPr wrap="square" lIns="0" tIns="0" rIns="0" bIns="0" rtlCol="0" anchor="ctr"/>
          <a:lstStyle/>
          <a:p>
            <a:pPr indent="0" marL="0">
              <a:buNone/>
            </a:pPr>
            <a:r>
              <a:rPr lang="en-US" sz="1800" b="1" i="1" dirty="0">
                <a:solidFill>
                  <a:srgbClr val="13153A"/>
                </a:solidFill>
                <a:latin typeface="Cambria" pitchFamily="34" charset="0"/>
                <a:ea typeface="Cambria" pitchFamily="34" charset="-122"/>
                <a:cs typeface="Cambria" pitchFamily="34" charset="-120"/>
              </a:rPr>
              <a:t>“Given how sure I really am, what wins most often?”</a:t>
            </a:r>
            <a:endParaRPr lang="en-US" sz="1800" dirty="0"/>
          </a:p>
        </p:txBody>
      </p:sp>
      <p:sp>
        <p:nvSpPr>
          <p:cNvPr id="11" name="Text 9"/>
          <p:cNvSpPr/>
          <p:nvPr/>
        </p:nvSpPr>
        <p:spPr>
          <a:xfrm>
            <a:off x="3200400" y="4983480"/>
            <a:ext cx="8138160" cy="822960"/>
          </a:xfrm>
          <a:prstGeom prst="rect">
            <a:avLst/>
          </a:prstGeom>
          <a:noFill/>
          <a:ln/>
        </p:spPr>
        <p:txBody>
          <a:bodyPr wrap="square" lIns="0" tIns="0" rIns="0" bIns="0" rtlCol="0" anchor="ctr"/>
          <a:lstStyle/>
          <a:p>
            <a:pPr indent="0" marL="0">
              <a:lnSpc>
                <a:spcPct val="125000"/>
              </a:lnSpc>
              <a:buNone/>
            </a:pPr>
            <a:r>
              <a:rPr lang="en-US" sz="1400" dirty="0">
                <a:solidFill>
                  <a:srgbClr val="4A4E7A"/>
                </a:solidFill>
                <a:latin typeface="Calibri" pitchFamily="34" charset="0"/>
                <a:ea typeface="Calibri" pitchFamily="34" charset="-122"/>
                <a:cs typeface="Calibri" pitchFamily="34" charset="-120"/>
              </a:rPr>
              <a:t>A probability-weighted decision. Uses your confidence and a model of how opponents tend to play.</a:t>
            </a:r>
            <a:endParaRPr lang="en-US" sz="1400" dirty="0"/>
          </a:p>
        </p:txBody>
      </p:sp>
      <p:sp>
        <p:nvSpPr>
          <p:cNvPr id="12" name="Text 10"/>
          <p:cNvSpPr/>
          <p:nvPr/>
        </p:nvSpPr>
        <p:spPr>
          <a:xfrm>
            <a:off x="11475720" y="6446520"/>
            <a:ext cx="457200" cy="274320"/>
          </a:xfrm>
          <a:prstGeom prst="rect">
            <a:avLst/>
          </a:prstGeom>
          <a:noFill/>
          <a:ln/>
        </p:spPr>
        <p:txBody>
          <a:bodyPr wrap="square" lIns="0" tIns="0" rIns="0" bIns="0" rtlCol="0" anchor="ctr"/>
          <a:lstStyle/>
          <a:p>
            <a:pPr algn="r" indent="0" marL="0">
              <a:buNone/>
            </a:pPr>
            <a:r>
              <a:rPr lang="en-US" sz="1000" dirty="0">
                <a:solidFill>
                  <a:srgbClr val="4A4E7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indent="0" marL="0">
              <a:buNone/>
            </a:pPr>
            <a:r>
              <a:rPr lang="en-US" sz="3200" b="1" dirty="0">
                <a:solidFill>
                  <a:srgbClr val="13153A"/>
                </a:solidFill>
                <a:latin typeface="Cambria" pitchFamily="34" charset="0"/>
                <a:ea typeface="Cambria" pitchFamily="34" charset="-122"/>
                <a:cs typeface="Cambria" pitchFamily="34" charset="-120"/>
              </a:rPr>
              <a:t>Safe Bet: the guarantee</a:t>
            </a:r>
            <a:endParaRPr lang="en-US" sz="3200" dirty="0"/>
          </a:p>
        </p:txBody>
      </p:sp>
      <p:sp>
        <p:nvSpPr>
          <p:cNvPr id="3" name="Text 1"/>
          <p:cNvSpPr/>
          <p:nvPr/>
        </p:nvSpPr>
        <p:spPr>
          <a:xfrm>
            <a:off x="548640" y="1051560"/>
            <a:ext cx="11091672" cy="457200"/>
          </a:xfrm>
          <a:prstGeom prst="rect">
            <a:avLst/>
          </a:prstGeom>
          <a:noFill/>
          <a:ln/>
        </p:spPr>
        <p:txBody>
          <a:bodyPr wrap="square" lIns="0" tIns="0" rIns="0" bIns="0" rtlCol="0" anchor="ctr"/>
          <a:lstStyle/>
          <a:p>
            <a:pPr indent="0" marL="0">
              <a:buNone/>
            </a:pPr>
            <a:r>
              <a:rPr lang="en-US" sz="1400" dirty="0">
                <a:solidFill>
                  <a:srgbClr val="4A4E7A"/>
                </a:solidFill>
                <a:latin typeface="Calibri" pitchFamily="34" charset="0"/>
                <a:ea typeface="Calibri" pitchFamily="34" charset="-122"/>
                <a:cs typeface="Calibri" pitchFamily="34" charset="-120"/>
              </a:rPr>
              <a:t>Assume every rival makes their single most threatening legal play: bet everything, answer correctly.</a:t>
            </a:r>
            <a:endParaRPr lang="en-US" sz="1400" dirty="0"/>
          </a:p>
        </p:txBody>
      </p:sp>
      <p:sp>
        <p:nvSpPr>
          <p:cNvPr id="4" name="Shape 2"/>
          <p:cNvSpPr/>
          <p:nvPr/>
        </p:nvSpPr>
        <p:spPr>
          <a:xfrm>
            <a:off x="548640" y="1920240"/>
            <a:ext cx="3474720" cy="1005840"/>
          </a:xfrm>
          <a:prstGeom prst="roundRect">
            <a:avLst>
              <a:gd name="adj" fmla="val 9091"/>
            </a:avLst>
          </a:prstGeom>
          <a:solidFill>
            <a:srgbClr val="F4F5FF"/>
          </a:solidFill>
          <a:ln/>
        </p:spPr>
      </p:sp>
      <p:sp>
        <p:nvSpPr>
          <p:cNvPr id="5" name="Text 3"/>
          <p:cNvSpPr/>
          <p:nvPr/>
        </p:nvSpPr>
        <p:spPr>
          <a:xfrm>
            <a:off x="548640" y="2029968"/>
            <a:ext cx="3474720" cy="320040"/>
          </a:xfrm>
          <a:prstGeom prst="rect">
            <a:avLst/>
          </a:prstGeom>
          <a:noFill/>
          <a:ln/>
        </p:spPr>
        <p:txBody>
          <a:bodyPr wrap="square" lIns="0" tIns="0" rIns="0" bIns="0" rtlCol="0" anchor="ctr"/>
          <a:lstStyle/>
          <a:p>
            <a:pPr algn="ctr" indent="0" marL="0">
              <a:buNone/>
            </a:pPr>
            <a:r>
              <a:rPr lang="en-US" sz="1200" dirty="0">
                <a:solidFill>
                  <a:srgbClr val="4A4E7A"/>
                </a:solidFill>
                <a:latin typeface="Calibri" pitchFamily="34" charset="0"/>
                <a:ea typeface="Calibri" pitchFamily="34" charset="-122"/>
                <a:cs typeface="Calibri" pitchFamily="34" charset="-120"/>
              </a:rPr>
              <a:t>You</a:t>
            </a:r>
            <a:endParaRPr lang="en-US" sz="1200" dirty="0"/>
          </a:p>
        </p:txBody>
      </p:sp>
      <p:sp>
        <p:nvSpPr>
          <p:cNvPr id="6" name="Text 4"/>
          <p:cNvSpPr/>
          <p:nvPr/>
        </p:nvSpPr>
        <p:spPr>
          <a:xfrm>
            <a:off x="548640" y="2286000"/>
            <a:ext cx="3474720" cy="548640"/>
          </a:xfrm>
          <a:prstGeom prst="rect">
            <a:avLst/>
          </a:prstGeom>
          <a:noFill/>
          <a:ln/>
        </p:spPr>
        <p:txBody>
          <a:bodyPr wrap="square" lIns="0" tIns="0" rIns="0" bIns="0" rtlCol="0" anchor="ctr"/>
          <a:lstStyle/>
          <a:p>
            <a:pPr algn="ctr" indent="0" marL="0">
              <a:buNone/>
            </a:pPr>
            <a:r>
              <a:rPr lang="en-US" sz="2400" b="1" dirty="0">
                <a:solidFill>
                  <a:srgbClr val="0A17B8"/>
                </a:solidFill>
                <a:latin typeface="Cambria" pitchFamily="34" charset="0"/>
                <a:ea typeface="Cambria" pitchFamily="34" charset="-122"/>
                <a:cs typeface="Cambria" pitchFamily="34" charset="-120"/>
              </a:rPr>
              <a:t>$12,000</a:t>
            </a:r>
            <a:endParaRPr lang="en-US" sz="2400" dirty="0"/>
          </a:p>
        </p:txBody>
      </p:sp>
      <p:sp>
        <p:nvSpPr>
          <p:cNvPr id="7" name="Shape 5"/>
          <p:cNvSpPr/>
          <p:nvPr/>
        </p:nvSpPr>
        <p:spPr>
          <a:xfrm>
            <a:off x="4297680" y="1920240"/>
            <a:ext cx="3474720" cy="1005840"/>
          </a:xfrm>
          <a:prstGeom prst="roundRect">
            <a:avLst>
              <a:gd name="adj" fmla="val 9091"/>
            </a:avLst>
          </a:prstGeom>
          <a:solidFill>
            <a:srgbClr val="F6F6F6"/>
          </a:solidFill>
          <a:ln/>
        </p:spPr>
      </p:sp>
      <p:sp>
        <p:nvSpPr>
          <p:cNvPr id="8" name="Text 6"/>
          <p:cNvSpPr/>
          <p:nvPr/>
        </p:nvSpPr>
        <p:spPr>
          <a:xfrm>
            <a:off x="4297680" y="2029968"/>
            <a:ext cx="3474720" cy="320040"/>
          </a:xfrm>
          <a:prstGeom prst="rect">
            <a:avLst/>
          </a:prstGeom>
          <a:noFill/>
          <a:ln/>
        </p:spPr>
        <p:txBody>
          <a:bodyPr wrap="square" lIns="0" tIns="0" rIns="0" bIns="0" rtlCol="0" anchor="ctr"/>
          <a:lstStyle/>
          <a:p>
            <a:pPr algn="ctr" indent="0" marL="0">
              <a:buNone/>
            </a:pPr>
            <a:r>
              <a:rPr lang="en-US" sz="1200" dirty="0">
                <a:solidFill>
                  <a:srgbClr val="4A4E7A"/>
                </a:solidFill>
                <a:latin typeface="Calibri" pitchFamily="34" charset="0"/>
                <a:ea typeface="Calibri" pitchFamily="34" charset="-122"/>
                <a:cs typeface="Calibri" pitchFamily="34" charset="-120"/>
              </a:rPr>
              <a:t>Rival 1</a:t>
            </a:r>
            <a:endParaRPr lang="en-US" sz="1200" dirty="0"/>
          </a:p>
        </p:txBody>
      </p:sp>
      <p:sp>
        <p:nvSpPr>
          <p:cNvPr id="9" name="Text 7"/>
          <p:cNvSpPr/>
          <p:nvPr/>
        </p:nvSpPr>
        <p:spPr>
          <a:xfrm>
            <a:off x="4297680" y="2286000"/>
            <a:ext cx="3474720" cy="548640"/>
          </a:xfrm>
          <a:prstGeom prst="rect">
            <a:avLst/>
          </a:prstGeom>
          <a:noFill/>
          <a:ln/>
        </p:spPr>
        <p:txBody>
          <a:bodyPr wrap="square" lIns="0" tIns="0" rIns="0" bIns="0" rtlCol="0" anchor="ctr"/>
          <a:lstStyle/>
          <a:p>
            <a:pPr algn="ctr" indent="0" marL="0">
              <a:buNone/>
            </a:pPr>
            <a:r>
              <a:rPr lang="en-US" sz="2400" b="1" dirty="0">
                <a:solidFill>
                  <a:srgbClr val="4A4E7A"/>
                </a:solidFill>
                <a:latin typeface="Cambria" pitchFamily="34" charset="0"/>
                <a:ea typeface="Cambria" pitchFamily="34" charset="-122"/>
                <a:cs typeface="Cambria" pitchFamily="34" charset="-120"/>
              </a:rPr>
              <a:t>$8,000</a:t>
            </a:r>
            <a:endParaRPr lang="en-US" sz="2400" dirty="0"/>
          </a:p>
        </p:txBody>
      </p:sp>
      <p:sp>
        <p:nvSpPr>
          <p:cNvPr id="10" name="Shape 8"/>
          <p:cNvSpPr/>
          <p:nvPr/>
        </p:nvSpPr>
        <p:spPr>
          <a:xfrm>
            <a:off x="8046720" y="1920240"/>
            <a:ext cx="3474720" cy="1005840"/>
          </a:xfrm>
          <a:prstGeom prst="roundRect">
            <a:avLst>
              <a:gd name="adj" fmla="val 9091"/>
            </a:avLst>
          </a:prstGeom>
          <a:solidFill>
            <a:srgbClr val="F6F6F6"/>
          </a:solidFill>
          <a:ln/>
        </p:spPr>
      </p:sp>
      <p:sp>
        <p:nvSpPr>
          <p:cNvPr id="11" name="Text 9"/>
          <p:cNvSpPr/>
          <p:nvPr/>
        </p:nvSpPr>
        <p:spPr>
          <a:xfrm>
            <a:off x="8046720" y="2029968"/>
            <a:ext cx="3474720" cy="320040"/>
          </a:xfrm>
          <a:prstGeom prst="rect">
            <a:avLst/>
          </a:prstGeom>
          <a:noFill/>
          <a:ln/>
        </p:spPr>
        <p:txBody>
          <a:bodyPr wrap="square" lIns="0" tIns="0" rIns="0" bIns="0" rtlCol="0" anchor="ctr"/>
          <a:lstStyle/>
          <a:p>
            <a:pPr algn="ctr" indent="0" marL="0">
              <a:buNone/>
            </a:pPr>
            <a:r>
              <a:rPr lang="en-US" sz="1200" dirty="0">
                <a:solidFill>
                  <a:srgbClr val="4A4E7A"/>
                </a:solidFill>
                <a:latin typeface="Calibri" pitchFamily="34" charset="0"/>
                <a:ea typeface="Calibri" pitchFamily="34" charset="-122"/>
                <a:cs typeface="Calibri" pitchFamily="34" charset="-120"/>
              </a:rPr>
              <a:t>Rival 2</a:t>
            </a:r>
            <a:endParaRPr lang="en-US" sz="1200" dirty="0"/>
          </a:p>
        </p:txBody>
      </p:sp>
      <p:sp>
        <p:nvSpPr>
          <p:cNvPr id="12" name="Text 10"/>
          <p:cNvSpPr/>
          <p:nvPr/>
        </p:nvSpPr>
        <p:spPr>
          <a:xfrm>
            <a:off x="8046720" y="2286000"/>
            <a:ext cx="3474720" cy="548640"/>
          </a:xfrm>
          <a:prstGeom prst="rect">
            <a:avLst/>
          </a:prstGeom>
          <a:noFill/>
          <a:ln/>
        </p:spPr>
        <p:txBody>
          <a:bodyPr wrap="square" lIns="0" tIns="0" rIns="0" bIns="0" rtlCol="0" anchor="ctr"/>
          <a:lstStyle/>
          <a:p>
            <a:pPr algn="ctr" indent="0" marL="0">
              <a:buNone/>
            </a:pPr>
            <a:r>
              <a:rPr lang="en-US" sz="2400" b="1" dirty="0">
                <a:solidFill>
                  <a:srgbClr val="4A4E7A"/>
                </a:solidFill>
                <a:latin typeface="Cambria" pitchFamily="34" charset="0"/>
                <a:ea typeface="Cambria" pitchFamily="34" charset="-122"/>
                <a:cs typeface="Cambria" pitchFamily="34" charset="-120"/>
              </a:rPr>
              <a:t>$6,000</a:t>
            </a:r>
            <a:endParaRPr lang="en-US" sz="2400" dirty="0"/>
          </a:p>
        </p:txBody>
      </p:sp>
      <p:sp>
        <p:nvSpPr>
          <p:cNvPr id="13" name="Text 11"/>
          <p:cNvSpPr/>
          <p:nvPr/>
        </p:nvSpPr>
        <p:spPr>
          <a:xfrm>
            <a:off x="548640" y="3200400"/>
            <a:ext cx="11091672" cy="548640"/>
          </a:xfrm>
          <a:prstGeom prst="rect">
            <a:avLst/>
          </a:prstGeom>
          <a:noFill/>
          <a:ln/>
        </p:spPr>
        <p:txBody>
          <a:bodyPr wrap="square" lIns="0" tIns="0" rIns="0" bIns="0" rtlCol="0" anchor="ctr"/>
          <a:lstStyle/>
          <a:p>
            <a:pPr indent="0" marL="0">
              <a:lnSpc>
                <a:spcPct val="125000"/>
              </a:lnSpc>
              <a:buNone/>
            </a:pPr>
            <a:r>
              <a:rPr lang="en-US" sz="1400" dirty="0">
                <a:solidFill>
                  <a:srgbClr val="13153A"/>
                </a:solidFill>
                <a:latin typeface="Calibri" pitchFamily="34" charset="0"/>
                <a:ea typeface="Calibri" pitchFamily="34" charset="-122"/>
                <a:cs typeface="Calibri" pitchFamily="34" charset="-120"/>
              </a:rPr>
              <a:t>Rival 1's worst case: $8,000 doubled = $16,000. That's the biggest threat -- bigger than Rival 2's $12,000 -- so it's the one you must cover.</a:t>
            </a:r>
            <a:endParaRPr lang="en-US" sz="1400" dirty="0"/>
          </a:p>
        </p:txBody>
      </p:sp>
      <p:sp>
        <p:nvSpPr>
          <p:cNvPr id="14" name="Shape 12"/>
          <p:cNvSpPr/>
          <p:nvPr/>
        </p:nvSpPr>
        <p:spPr>
          <a:xfrm>
            <a:off x="3108960" y="3977640"/>
            <a:ext cx="5943600" cy="1828800"/>
          </a:xfrm>
          <a:prstGeom prst="roundRect">
            <a:avLst>
              <a:gd name="adj" fmla="val 6000"/>
            </a:avLst>
          </a:prstGeom>
          <a:solidFill>
            <a:srgbClr val="04086B"/>
          </a:solidFill>
          <a:ln/>
        </p:spPr>
      </p:sp>
      <p:sp>
        <p:nvSpPr>
          <p:cNvPr id="15" name="Text 13"/>
          <p:cNvSpPr/>
          <p:nvPr/>
        </p:nvSpPr>
        <p:spPr>
          <a:xfrm>
            <a:off x="3108960" y="4160520"/>
            <a:ext cx="5943600" cy="365760"/>
          </a:xfrm>
          <a:prstGeom prst="rect">
            <a:avLst/>
          </a:prstGeom>
          <a:noFill/>
          <a:ln/>
        </p:spPr>
        <p:txBody>
          <a:bodyPr wrap="square" lIns="0" tIns="0" rIns="0" bIns="0" rtlCol="0" anchor="ctr"/>
          <a:lstStyle/>
          <a:p>
            <a:pPr algn="ctr" indent="0" marL="0">
              <a:buNone/>
            </a:pPr>
            <a:r>
              <a:rPr lang="en-US" sz="1200" dirty="0">
                <a:solidFill>
                  <a:srgbClr val="C9A227"/>
                </a:solidFill>
                <a:latin typeface="Calibri" pitchFamily="34" charset="0"/>
                <a:ea typeface="Calibri" pitchFamily="34" charset="-122"/>
                <a:cs typeface="Calibri" pitchFamily="34" charset="-120"/>
              </a:rPr>
              <a:t>SAFE BET RECOMMENDS</a:t>
            </a:r>
            <a:endParaRPr lang="en-US" sz="1200" dirty="0"/>
          </a:p>
        </p:txBody>
      </p:sp>
      <p:sp>
        <p:nvSpPr>
          <p:cNvPr id="16" name="Text 14"/>
          <p:cNvSpPr/>
          <p:nvPr/>
        </p:nvSpPr>
        <p:spPr>
          <a:xfrm>
            <a:off x="3108960" y="4480560"/>
            <a:ext cx="5943600" cy="914400"/>
          </a:xfrm>
          <a:prstGeom prst="rect">
            <a:avLst/>
          </a:prstGeom>
          <a:noFill/>
          <a:ln/>
        </p:spPr>
        <p:txBody>
          <a:bodyPr wrap="square" lIns="0" tIns="0" rIns="0" bIns="0" rtlCol="0" anchor="ctr"/>
          <a:lstStyle/>
          <a:p>
            <a:pPr algn="ctr" indent="0" marL="0">
              <a:buNone/>
            </a:pPr>
            <a:r>
              <a:rPr lang="en-US" sz="5400" b="1" dirty="0">
                <a:solidFill>
                  <a:srgbClr val="FFCC00"/>
                </a:solidFill>
                <a:latin typeface="Cambria" pitchFamily="34" charset="0"/>
                <a:ea typeface="Cambria" pitchFamily="34" charset="-122"/>
                <a:cs typeface="Cambria" pitchFamily="34" charset="-120"/>
              </a:rPr>
              <a:t>$4,001</a:t>
            </a:r>
            <a:endParaRPr lang="en-US" sz="5400" dirty="0"/>
          </a:p>
        </p:txBody>
      </p:sp>
      <p:sp>
        <p:nvSpPr>
          <p:cNvPr id="17" name="Text 15"/>
          <p:cNvSpPr/>
          <p:nvPr/>
        </p:nvSpPr>
        <p:spPr>
          <a:xfrm>
            <a:off x="3108960" y="5440680"/>
            <a:ext cx="5943600" cy="320040"/>
          </a:xfrm>
          <a:prstGeom prst="rect">
            <a:avLst/>
          </a:prstGeom>
          <a:noFill/>
          <a:ln/>
        </p:spPr>
        <p:txBody>
          <a:bodyPr wrap="square" lIns="0" tIns="0" rIns="0" bIns="0" rtlCol="0" anchor="ctr"/>
          <a:lstStyle/>
          <a:p>
            <a:pPr algn="ctr" indent="0" marL="0">
              <a:buNone/>
            </a:pPr>
            <a:r>
              <a:rPr lang="en-US" sz="1200" i="1" dirty="0">
                <a:solidFill>
                  <a:srgbClr val="E4E7FF"/>
                </a:solidFill>
                <a:latin typeface="Calibri" pitchFamily="34" charset="0"/>
                <a:ea typeface="Calibri" pitchFamily="34" charset="-122"/>
                <a:cs typeface="Calibri" pitchFamily="34" charset="-120"/>
              </a:rPr>
              <a:t>$12,000 + $4,001 = $16,001 -- one dollar past the worst case</a:t>
            </a:r>
            <a:endParaRPr lang="en-US" sz="1200" dirty="0"/>
          </a:p>
        </p:txBody>
      </p:sp>
      <p:sp>
        <p:nvSpPr>
          <p:cNvPr id="18" name="Text 16"/>
          <p:cNvSpPr/>
          <p:nvPr/>
        </p:nvSpPr>
        <p:spPr>
          <a:xfrm>
            <a:off x="11475720" y="6446520"/>
            <a:ext cx="457200" cy="274320"/>
          </a:xfrm>
          <a:prstGeom prst="rect">
            <a:avLst/>
          </a:prstGeom>
          <a:noFill/>
          <a:ln/>
        </p:spPr>
        <p:txBody>
          <a:bodyPr wrap="square" lIns="0" tIns="0" rIns="0" bIns="0" rtlCol="0" anchor="ctr"/>
          <a:lstStyle/>
          <a:p>
            <a:pPr algn="r" indent="0" marL="0">
              <a:buNone/>
            </a:pPr>
            <a:r>
              <a:rPr lang="en-US" sz="1000" dirty="0">
                <a:solidFill>
                  <a:srgbClr val="4A4E7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indent="0" marL="0">
              <a:buNone/>
            </a:pPr>
            <a:r>
              <a:rPr lang="en-US" sz="3200" b="1" dirty="0">
                <a:solidFill>
                  <a:srgbClr val="13153A"/>
                </a:solidFill>
                <a:latin typeface="Cambria" pitchFamily="34" charset="0"/>
                <a:ea typeface="Cambria" pitchFamily="34" charset="-122"/>
                <a:cs typeface="Cambria" pitchFamily="34" charset="-120"/>
              </a:rPr>
              <a:t>Smart Bet: using your confidence</a:t>
            </a:r>
            <a:endParaRPr lang="en-US" sz="3200" dirty="0"/>
          </a:p>
        </p:txBody>
      </p:sp>
      <p:sp>
        <p:nvSpPr>
          <p:cNvPr id="3" name="Text 1"/>
          <p:cNvSpPr/>
          <p:nvPr/>
        </p:nvSpPr>
        <p:spPr>
          <a:xfrm>
            <a:off x="548640" y="1051560"/>
            <a:ext cx="11091672" cy="457200"/>
          </a:xfrm>
          <a:prstGeom prst="rect">
            <a:avLst/>
          </a:prstGeom>
          <a:noFill/>
          <a:ln/>
        </p:spPr>
        <p:txBody>
          <a:bodyPr wrap="square" lIns="0" tIns="0" rIns="0" bIns="0" rtlCol="0" anchor="ctr"/>
          <a:lstStyle/>
          <a:p>
            <a:pPr indent="0" marL="0">
              <a:buNone/>
            </a:pPr>
            <a:r>
              <a:rPr lang="en-US" sz="1400" dirty="0">
                <a:solidFill>
                  <a:srgbClr val="4A4E7A"/>
                </a:solidFill>
                <a:latin typeface="Calibri" pitchFamily="34" charset="0"/>
                <a:ea typeface="Calibri" pitchFamily="34" charset="-122"/>
                <a:cs typeface="Calibri" pitchFamily="34" charset="-120"/>
              </a:rPr>
              <a:t>Same scores. Smart Bet also counts a tie for first as a win -- matching the real show rule that co-champions both advance.</a:t>
            </a:r>
            <a:endParaRPr lang="en-US" sz="1400" dirty="0"/>
          </a:p>
        </p:txBody>
      </p:sp>
      <p:sp>
        <p:nvSpPr>
          <p:cNvPr id="4" name="Shape 2"/>
          <p:cNvSpPr/>
          <p:nvPr/>
        </p:nvSpPr>
        <p:spPr>
          <a:xfrm>
            <a:off x="822960" y="1965960"/>
            <a:ext cx="5029200" cy="2743200"/>
          </a:xfrm>
          <a:prstGeom prst="roundRect">
            <a:avLst>
              <a:gd name="adj" fmla="val 4000"/>
            </a:avLst>
          </a:prstGeom>
          <a:solidFill>
            <a:srgbClr val="F4F5FF"/>
          </a:solidFill>
          <a:ln/>
        </p:spPr>
      </p:sp>
      <p:sp>
        <p:nvSpPr>
          <p:cNvPr id="5" name="Text 3"/>
          <p:cNvSpPr/>
          <p:nvPr/>
        </p:nvSpPr>
        <p:spPr>
          <a:xfrm>
            <a:off x="822960" y="2194560"/>
            <a:ext cx="5029200" cy="365760"/>
          </a:xfrm>
          <a:prstGeom prst="rect">
            <a:avLst/>
          </a:prstGeom>
          <a:noFill/>
          <a:ln/>
        </p:spPr>
        <p:txBody>
          <a:bodyPr wrap="square" lIns="0" tIns="0" rIns="0" bIns="0" rtlCol="0" anchor="ctr"/>
          <a:lstStyle/>
          <a:p>
            <a:pPr algn="ctr" indent="0" marL="0">
              <a:buNone/>
            </a:pPr>
            <a:r>
              <a:rPr lang="en-US" sz="1300" b="1" dirty="0">
                <a:solidFill>
                  <a:srgbClr val="4A4E7A"/>
                </a:solidFill>
                <a:latin typeface="Calibri" pitchFamily="34" charset="0"/>
                <a:ea typeface="Calibri" pitchFamily="34" charset="-122"/>
                <a:cs typeface="Calibri" pitchFamily="34" charset="-120"/>
              </a:rPr>
              <a:t>AT 50% CONFIDENCE</a:t>
            </a:r>
            <a:endParaRPr lang="en-US" sz="1300" dirty="0"/>
          </a:p>
        </p:txBody>
      </p:sp>
      <p:sp>
        <p:nvSpPr>
          <p:cNvPr id="6" name="Text 4"/>
          <p:cNvSpPr/>
          <p:nvPr/>
        </p:nvSpPr>
        <p:spPr>
          <a:xfrm>
            <a:off x="822960" y="2606040"/>
            <a:ext cx="5029200" cy="822960"/>
          </a:xfrm>
          <a:prstGeom prst="rect">
            <a:avLst/>
          </a:prstGeom>
          <a:noFill/>
          <a:ln/>
        </p:spPr>
        <p:txBody>
          <a:bodyPr wrap="square" lIns="0" tIns="0" rIns="0" bIns="0" rtlCol="0" anchor="ctr"/>
          <a:lstStyle/>
          <a:p>
            <a:pPr algn="ctr" indent="0" marL="0">
              <a:buNone/>
            </a:pPr>
            <a:r>
              <a:rPr lang="en-US" sz="4400" b="1" dirty="0">
                <a:solidFill>
                  <a:srgbClr val="0A17B8"/>
                </a:solidFill>
                <a:latin typeface="Cambria" pitchFamily="34" charset="0"/>
                <a:ea typeface="Cambria" pitchFamily="34" charset="-122"/>
                <a:cs typeface="Cambria" pitchFamily="34" charset="-120"/>
              </a:rPr>
              <a:t>$4,000</a:t>
            </a:r>
            <a:endParaRPr lang="en-US" sz="4400" dirty="0"/>
          </a:p>
        </p:txBody>
      </p:sp>
      <p:sp>
        <p:nvSpPr>
          <p:cNvPr id="7" name="Text 5"/>
          <p:cNvSpPr/>
          <p:nvPr/>
        </p:nvSpPr>
        <p:spPr>
          <a:xfrm>
            <a:off x="822960" y="3429000"/>
            <a:ext cx="5029200" cy="365760"/>
          </a:xfrm>
          <a:prstGeom prst="rect">
            <a:avLst/>
          </a:prstGeom>
          <a:noFill/>
          <a:ln/>
        </p:spPr>
        <p:txBody>
          <a:bodyPr wrap="square" lIns="0" tIns="0" rIns="0" bIns="0" rtlCol="0" anchor="ctr"/>
          <a:lstStyle/>
          <a:p>
            <a:pPr algn="ctr" indent="0" marL="0">
              <a:buNone/>
            </a:pPr>
            <a:r>
              <a:rPr lang="en-US" sz="1400" dirty="0">
                <a:solidFill>
                  <a:srgbClr val="13153A"/>
                </a:solidFill>
                <a:latin typeface="Calibri" pitchFamily="34" charset="0"/>
                <a:ea typeface="Calibri" pitchFamily="34" charset="-122"/>
                <a:cs typeface="Calibri" pitchFamily="34" charset="-120"/>
              </a:rPr>
              <a:t>~78% estimated win rate</a:t>
            </a:r>
            <a:endParaRPr lang="en-US" sz="1400" dirty="0"/>
          </a:p>
        </p:txBody>
      </p:sp>
      <p:sp>
        <p:nvSpPr>
          <p:cNvPr id="8" name="Text 6"/>
          <p:cNvSpPr/>
          <p:nvPr/>
        </p:nvSpPr>
        <p:spPr>
          <a:xfrm>
            <a:off x="822960" y="3931920"/>
            <a:ext cx="5029200" cy="685800"/>
          </a:xfrm>
          <a:prstGeom prst="rect">
            <a:avLst/>
          </a:prstGeom>
          <a:noFill/>
          <a:ln/>
        </p:spPr>
        <p:txBody>
          <a:bodyPr wrap="square" lIns="0" tIns="0" rIns="0" bIns="0" rtlCol="0" anchor="ctr"/>
          <a:lstStyle/>
          <a:p>
            <a:pPr algn="ctr" indent="0" marL="0">
              <a:lnSpc>
                <a:spcPct val="120000"/>
              </a:lnSpc>
              <a:buNone/>
            </a:pPr>
            <a:r>
              <a:rPr lang="en-US" sz="1150" i="1" dirty="0">
                <a:solidFill>
                  <a:srgbClr val="4A4E7A"/>
                </a:solidFill>
                <a:latin typeface="Calibri" pitchFamily="34" charset="0"/>
                <a:ea typeface="Calibri" pitchFamily="34" charset="-122"/>
                <a:cs typeface="Calibri" pitchFamily="34" charset="-120"/>
              </a:rPr>
              <a:t>recommended wager stays the same --</a:t>
            </a:r>
            <a:endParaRPr lang="en-US" sz="1150" dirty="0"/>
          </a:p>
          <a:p>
            <a:pPr algn="ctr" indent="0" marL="0">
              <a:lnSpc>
                <a:spcPct val="120000"/>
              </a:lnSpc>
              <a:buNone/>
            </a:pPr>
            <a:r>
              <a:rPr lang="en-US" sz="1150" i="1" dirty="0">
                <a:solidFill>
                  <a:srgbClr val="4A4E7A"/>
                </a:solidFill>
                <a:latin typeface="Calibri" pitchFamily="34" charset="0"/>
                <a:ea typeface="Calibri" pitchFamily="34" charset="-122"/>
                <a:cs typeface="Calibri" pitchFamily="34" charset="-120"/>
              </a:rPr>
              <a:t>confidence changes how good the bet is,</a:t>
            </a:r>
            <a:endParaRPr lang="en-US" sz="1150" dirty="0"/>
          </a:p>
          <a:p>
            <a:pPr algn="ctr" indent="0" marL="0">
              <a:lnSpc>
                <a:spcPct val="120000"/>
              </a:lnSpc>
              <a:buNone/>
            </a:pPr>
            <a:r>
              <a:rPr lang="en-US" sz="1150" i="1" dirty="0">
                <a:solidFill>
                  <a:srgbClr val="4A4E7A"/>
                </a:solidFill>
                <a:latin typeface="Calibri" pitchFamily="34" charset="0"/>
                <a:ea typeface="Calibri" pitchFamily="34" charset="-122"/>
                <a:cs typeface="Calibri" pitchFamily="34" charset="-120"/>
              </a:rPr>
              <a:t>not how much to bet here</a:t>
            </a:r>
            <a:endParaRPr lang="en-US" sz="1150" dirty="0"/>
          </a:p>
        </p:txBody>
      </p:sp>
      <p:sp>
        <p:nvSpPr>
          <p:cNvPr id="9" name="Shape 7"/>
          <p:cNvSpPr/>
          <p:nvPr/>
        </p:nvSpPr>
        <p:spPr>
          <a:xfrm>
            <a:off x="6217920" y="1965960"/>
            <a:ext cx="5029200" cy="2743200"/>
          </a:xfrm>
          <a:prstGeom prst="roundRect">
            <a:avLst>
              <a:gd name="adj" fmla="val 4000"/>
            </a:avLst>
          </a:prstGeom>
          <a:solidFill>
            <a:srgbClr val="F4F5FF"/>
          </a:solidFill>
          <a:ln/>
        </p:spPr>
      </p:sp>
      <p:sp>
        <p:nvSpPr>
          <p:cNvPr id="10" name="Text 8"/>
          <p:cNvSpPr/>
          <p:nvPr/>
        </p:nvSpPr>
        <p:spPr>
          <a:xfrm>
            <a:off x="6217920" y="2194560"/>
            <a:ext cx="5029200" cy="365760"/>
          </a:xfrm>
          <a:prstGeom prst="rect">
            <a:avLst/>
          </a:prstGeom>
          <a:noFill/>
          <a:ln/>
        </p:spPr>
        <p:txBody>
          <a:bodyPr wrap="square" lIns="0" tIns="0" rIns="0" bIns="0" rtlCol="0" anchor="ctr"/>
          <a:lstStyle/>
          <a:p>
            <a:pPr algn="ctr" indent="0" marL="0">
              <a:buNone/>
            </a:pPr>
            <a:r>
              <a:rPr lang="en-US" sz="1300" b="1" dirty="0">
                <a:solidFill>
                  <a:srgbClr val="4A4E7A"/>
                </a:solidFill>
                <a:latin typeface="Calibri" pitchFamily="34" charset="0"/>
                <a:ea typeface="Calibri" pitchFamily="34" charset="-122"/>
                <a:cs typeface="Calibri" pitchFamily="34" charset="-120"/>
              </a:rPr>
              <a:t>AT 90% CONFIDENCE</a:t>
            </a:r>
            <a:endParaRPr lang="en-US" sz="1300" dirty="0"/>
          </a:p>
        </p:txBody>
      </p:sp>
      <p:sp>
        <p:nvSpPr>
          <p:cNvPr id="11" name="Text 9"/>
          <p:cNvSpPr/>
          <p:nvPr/>
        </p:nvSpPr>
        <p:spPr>
          <a:xfrm>
            <a:off x="6217920" y="2606040"/>
            <a:ext cx="5029200" cy="822960"/>
          </a:xfrm>
          <a:prstGeom prst="rect">
            <a:avLst/>
          </a:prstGeom>
          <a:noFill/>
          <a:ln/>
        </p:spPr>
        <p:txBody>
          <a:bodyPr wrap="square" lIns="0" tIns="0" rIns="0" bIns="0" rtlCol="0" anchor="ctr"/>
          <a:lstStyle/>
          <a:p>
            <a:pPr algn="ctr" indent="0" marL="0">
              <a:buNone/>
            </a:pPr>
            <a:r>
              <a:rPr lang="en-US" sz="4400" b="1" dirty="0">
                <a:solidFill>
                  <a:srgbClr val="0A17B8"/>
                </a:solidFill>
                <a:latin typeface="Cambria" pitchFamily="34" charset="0"/>
                <a:ea typeface="Cambria" pitchFamily="34" charset="-122"/>
                <a:cs typeface="Cambria" pitchFamily="34" charset="-120"/>
              </a:rPr>
              <a:t>$4,000</a:t>
            </a:r>
            <a:endParaRPr lang="en-US" sz="4400" dirty="0"/>
          </a:p>
        </p:txBody>
      </p:sp>
      <p:sp>
        <p:nvSpPr>
          <p:cNvPr id="12" name="Text 10"/>
          <p:cNvSpPr/>
          <p:nvPr/>
        </p:nvSpPr>
        <p:spPr>
          <a:xfrm>
            <a:off x="6217920" y="3429000"/>
            <a:ext cx="5029200" cy="365760"/>
          </a:xfrm>
          <a:prstGeom prst="rect">
            <a:avLst/>
          </a:prstGeom>
          <a:noFill/>
          <a:ln/>
        </p:spPr>
        <p:txBody>
          <a:bodyPr wrap="square" lIns="0" tIns="0" rIns="0" bIns="0" rtlCol="0" anchor="ctr"/>
          <a:lstStyle/>
          <a:p>
            <a:pPr algn="ctr" indent="0" marL="0">
              <a:buNone/>
            </a:pPr>
            <a:r>
              <a:rPr lang="en-US" sz="1400" dirty="0">
                <a:solidFill>
                  <a:srgbClr val="13153A"/>
                </a:solidFill>
                <a:latin typeface="Calibri" pitchFamily="34" charset="0"/>
                <a:ea typeface="Calibri" pitchFamily="34" charset="-122"/>
                <a:cs typeface="Calibri" pitchFamily="34" charset="-120"/>
              </a:rPr>
              <a:t>~96% estimated win rate</a:t>
            </a:r>
            <a:endParaRPr lang="en-US" sz="1400" dirty="0"/>
          </a:p>
        </p:txBody>
      </p:sp>
      <p:sp>
        <p:nvSpPr>
          <p:cNvPr id="13" name="Text 11"/>
          <p:cNvSpPr/>
          <p:nvPr/>
        </p:nvSpPr>
        <p:spPr>
          <a:xfrm>
            <a:off x="6217920" y="3931920"/>
            <a:ext cx="5029200" cy="685800"/>
          </a:xfrm>
          <a:prstGeom prst="rect">
            <a:avLst/>
          </a:prstGeom>
          <a:noFill/>
          <a:ln/>
        </p:spPr>
        <p:txBody>
          <a:bodyPr wrap="square" lIns="0" tIns="0" rIns="0" bIns="0" rtlCol="0" anchor="ctr"/>
          <a:lstStyle/>
          <a:p>
            <a:pPr algn="ctr" indent="0" marL="0">
              <a:lnSpc>
                <a:spcPct val="120000"/>
              </a:lnSpc>
              <a:buNone/>
            </a:pPr>
            <a:r>
              <a:rPr lang="en-US" sz="1150" i="1" dirty="0">
                <a:solidFill>
                  <a:srgbClr val="4A4E7A"/>
                </a:solidFill>
                <a:latin typeface="Calibri" pitchFamily="34" charset="0"/>
                <a:ea typeface="Calibri" pitchFamily="34" charset="-122"/>
                <a:cs typeface="Calibri" pitchFamily="34" charset="-120"/>
              </a:rPr>
              <a:t>recommended wager stays the same --</a:t>
            </a:r>
            <a:endParaRPr lang="en-US" sz="1150" dirty="0"/>
          </a:p>
          <a:p>
            <a:pPr algn="ctr" indent="0" marL="0">
              <a:lnSpc>
                <a:spcPct val="120000"/>
              </a:lnSpc>
              <a:buNone/>
            </a:pPr>
            <a:r>
              <a:rPr lang="en-US" sz="1150" i="1" dirty="0">
                <a:solidFill>
                  <a:srgbClr val="4A4E7A"/>
                </a:solidFill>
                <a:latin typeface="Calibri" pitchFamily="34" charset="0"/>
                <a:ea typeface="Calibri" pitchFamily="34" charset="-122"/>
                <a:cs typeface="Calibri" pitchFamily="34" charset="-120"/>
              </a:rPr>
              <a:t>confidence changes how good the bet is,</a:t>
            </a:r>
            <a:endParaRPr lang="en-US" sz="1150" dirty="0"/>
          </a:p>
          <a:p>
            <a:pPr algn="ctr" indent="0" marL="0">
              <a:lnSpc>
                <a:spcPct val="120000"/>
              </a:lnSpc>
              <a:buNone/>
            </a:pPr>
            <a:r>
              <a:rPr lang="en-US" sz="1150" i="1" dirty="0">
                <a:solidFill>
                  <a:srgbClr val="4A4E7A"/>
                </a:solidFill>
                <a:latin typeface="Calibri" pitchFamily="34" charset="0"/>
                <a:ea typeface="Calibri" pitchFamily="34" charset="-122"/>
                <a:cs typeface="Calibri" pitchFamily="34" charset="-120"/>
              </a:rPr>
              <a:t>not how much to bet here</a:t>
            </a:r>
            <a:endParaRPr lang="en-US" sz="1150" dirty="0"/>
          </a:p>
        </p:txBody>
      </p:sp>
      <p:sp>
        <p:nvSpPr>
          <p:cNvPr id="14" name="Shape 12"/>
          <p:cNvSpPr/>
          <p:nvPr/>
        </p:nvSpPr>
        <p:spPr>
          <a:xfrm>
            <a:off x="548640" y="5074920"/>
            <a:ext cx="11091672" cy="1234440"/>
          </a:xfrm>
          <a:prstGeom prst="roundRect">
            <a:avLst>
              <a:gd name="adj" fmla="val 7407"/>
            </a:avLst>
          </a:prstGeom>
          <a:solidFill>
            <a:srgbClr val="FFFBEA"/>
          </a:solidFill>
          <a:ln/>
        </p:spPr>
      </p:sp>
      <p:sp>
        <p:nvSpPr>
          <p:cNvPr id="15" name="Text 13"/>
          <p:cNvSpPr/>
          <p:nvPr/>
        </p:nvSpPr>
        <p:spPr>
          <a:xfrm>
            <a:off x="868680" y="5230368"/>
            <a:ext cx="10424160" cy="365760"/>
          </a:xfrm>
          <a:prstGeom prst="rect">
            <a:avLst/>
          </a:prstGeom>
          <a:noFill/>
          <a:ln/>
        </p:spPr>
        <p:txBody>
          <a:bodyPr wrap="square" lIns="0" tIns="0" rIns="0" bIns="0" rtlCol="0" anchor="ctr"/>
          <a:lstStyle/>
          <a:p>
            <a:pPr indent="0" marL="0">
              <a:buNone/>
            </a:pPr>
            <a:r>
              <a:rPr lang="en-US" sz="1500" b="1" dirty="0">
                <a:solidFill>
                  <a:srgbClr val="13153A"/>
                </a:solidFill>
                <a:latin typeface="Cambria" pitchFamily="34" charset="0"/>
                <a:ea typeface="Cambria" pitchFamily="34" charset="-122"/>
                <a:cs typeface="Cambria" pitchFamily="34" charset="-120"/>
              </a:rPr>
              <a:t>A rule worth knowing: never settle for a tie when a win is free.</a:t>
            </a:r>
            <a:endParaRPr lang="en-US" sz="1500" dirty="0"/>
          </a:p>
        </p:txBody>
      </p:sp>
      <p:sp>
        <p:nvSpPr>
          <p:cNvPr id="16" name="Text 14"/>
          <p:cNvSpPr/>
          <p:nvPr/>
        </p:nvSpPr>
        <p:spPr>
          <a:xfrm>
            <a:off x="868680" y="5577840"/>
            <a:ext cx="10424160" cy="640080"/>
          </a:xfrm>
          <a:prstGeom prst="rect">
            <a:avLst/>
          </a:prstGeom>
          <a:noFill/>
          <a:ln/>
        </p:spPr>
        <p:txBody>
          <a:bodyPr wrap="square" lIns="0" tIns="0" rIns="0" bIns="0" rtlCol="0" anchor="ctr"/>
          <a:lstStyle/>
          <a:p>
            <a:pPr indent="0" marL="0">
              <a:lnSpc>
                <a:spcPct val="120000"/>
              </a:lnSpc>
              <a:buNone/>
            </a:pPr>
            <a:r>
              <a:rPr lang="en-US" sz="1250" dirty="0">
                <a:solidFill>
                  <a:srgbClr val="13153A"/>
                </a:solidFill>
                <a:latin typeface="Calibri" pitchFamily="34" charset="0"/>
                <a:ea typeface="Calibri" pitchFamily="34" charset="-122"/>
                <a:cs typeface="Calibri" pitchFamily="34" charset="-120"/>
              </a:rPr>
              <a:t>If two wagers reach the same win probability, but one only ties an opponent while the other beats them outright at no extra cost, Smart Bet now always prefers the outright win.</a:t>
            </a:r>
            <a:endParaRPr lang="en-US" sz="1250" dirty="0"/>
          </a:p>
        </p:txBody>
      </p:sp>
      <p:sp>
        <p:nvSpPr>
          <p:cNvPr id="17" name="Text 15"/>
          <p:cNvSpPr/>
          <p:nvPr/>
        </p:nvSpPr>
        <p:spPr>
          <a:xfrm>
            <a:off x="11475720" y="6446520"/>
            <a:ext cx="457200" cy="274320"/>
          </a:xfrm>
          <a:prstGeom prst="rect">
            <a:avLst/>
          </a:prstGeom>
          <a:noFill/>
          <a:ln/>
        </p:spPr>
        <p:txBody>
          <a:bodyPr wrap="square" lIns="0" tIns="0" rIns="0" bIns="0" rtlCol="0" anchor="ctr"/>
          <a:lstStyle/>
          <a:p>
            <a:pPr algn="r" indent="0" marL="0">
              <a:buNone/>
            </a:pPr>
            <a:r>
              <a:rPr lang="en-US" sz="1000" dirty="0">
                <a:solidFill>
                  <a:srgbClr val="4A4E7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indent="0" marL="0">
              <a:buNone/>
            </a:pPr>
            <a:r>
              <a:rPr lang="en-US" sz="3200" b="1" dirty="0">
                <a:solidFill>
                  <a:srgbClr val="13153A"/>
                </a:solidFill>
                <a:latin typeface="Cambria" pitchFamily="34" charset="0"/>
                <a:ea typeface="Cambria" pitchFamily="34" charset="-122"/>
                <a:cs typeface="Cambria" pitchFamily="34" charset="-120"/>
              </a:rPr>
              <a:t>Daily Double: a different kind of bet</a:t>
            </a:r>
            <a:endParaRPr lang="en-US" sz="3200" dirty="0"/>
          </a:p>
        </p:txBody>
      </p:sp>
      <p:sp>
        <p:nvSpPr>
          <p:cNvPr id="3" name="Text 1"/>
          <p:cNvSpPr/>
          <p:nvPr/>
        </p:nvSpPr>
        <p:spPr>
          <a:xfrm>
            <a:off x="548640" y="1051560"/>
            <a:ext cx="11091672" cy="457200"/>
          </a:xfrm>
          <a:prstGeom prst="rect">
            <a:avLst/>
          </a:prstGeom>
          <a:noFill/>
          <a:ln/>
        </p:spPr>
        <p:txBody>
          <a:bodyPr wrap="square" lIns="0" tIns="0" rIns="0" bIns="0" rtlCol="0" anchor="ctr"/>
          <a:lstStyle/>
          <a:p>
            <a:pPr indent="0" marL="0">
              <a:buNone/>
            </a:pPr>
            <a:r>
              <a:rPr lang="en-US" sz="1400" dirty="0">
                <a:solidFill>
                  <a:srgbClr val="4A4E7A"/>
                </a:solidFill>
                <a:latin typeface="Calibri" pitchFamily="34" charset="0"/>
                <a:ea typeface="Calibri" pitchFamily="34" charset="-122"/>
                <a:cs typeface="Calibri" pitchFamily="34" charset="-120"/>
              </a:rPr>
              <a:t>A Final Jeopardy wager affects the next 30 seconds. A Daily Double wager affects everything still to come.</a:t>
            </a:r>
            <a:endParaRPr lang="en-US" sz="1400" dirty="0"/>
          </a:p>
        </p:txBody>
      </p:sp>
      <p:sp>
        <p:nvSpPr>
          <p:cNvPr id="4" name="Shape 2"/>
          <p:cNvSpPr/>
          <p:nvPr/>
        </p:nvSpPr>
        <p:spPr>
          <a:xfrm>
            <a:off x="1485900" y="2286000"/>
            <a:ext cx="731520" cy="731520"/>
          </a:xfrm>
          <a:prstGeom prst="ellipse">
            <a:avLst/>
          </a:prstGeom>
          <a:solidFill>
            <a:srgbClr val="FFCC00"/>
          </a:solidFill>
          <a:ln/>
        </p:spPr>
      </p:sp>
      <p:sp>
        <p:nvSpPr>
          <p:cNvPr id="5" name="Text 3"/>
          <p:cNvSpPr/>
          <p:nvPr/>
        </p:nvSpPr>
        <p:spPr>
          <a:xfrm>
            <a:off x="1485900" y="2286000"/>
            <a:ext cx="731520" cy="731520"/>
          </a:xfrm>
          <a:prstGeom prst="rect">
            <a:avLst/>
          </a:prstGeom>
          <a:noFill/>
          <a:ln/>
        </p:spPr>
        <p:txBody>
          <a:bodyPr wrap="square" lIns="0" tIns="0" rIns="0" bIns="0" rtlCol="0" anchor="ctr"/>
          <a:lstStyle/>
          <a:p>
            <a:pPr algn="ctr" indent="0" marL="0">
              <a:buNone/>
            </a:pPr>
            <a:r>
              <a:rPr lang="en-US" sz="2600" b="1" dirty="0">
                <a:solidFill>
                  <a:srgbClr val="04086B"/>
                </a:solidFill>
                <a:latin typeface="Cambria" pitchFamily="34" charset="0"/>
                <a:ea typeface="Cambria" pitchFamily="34" charset="-122"/>
                <a:cs typeface="Cambria" pitchFamily="34" charset="-120"/>
              </a:rPr>
              <a:t>1</a:t>
            </a:r>
            <a:endParaRPr lang="en-US" sz="2600" dirty="0"/>
          </a:p>
        </p:txBody>
      </p:sp>
      <p:sp>
        <p:nvSpPr>
          <p:cNvPr id="6" name="Text 4"/>
          <p:cNvSpPr/>
          <p:nvPr/>
        </p:nvSpPr>
        <p:spPr>
          <a:xfrm>
            <a:off x="548640" y="3154680"/>
            <a:ext cx="2606040" cy="640080"/>
          </a:xfrm>
          <a:prstGeom prst="rect">
            <a:avLst/>
          </a:prstGeom>
          <a:noFill/>
          <a:ln/>
        </p:spPr>
        <p:txBody>
          <a:bodyPr wrap="square" lIns="0" tIns="0" rIns="0" bIns="0" rtlCol="0" anchor="ctr"/>
          <a:lstStyle/>
          <a:p>
            <a:pPr algn="ctr" indent="0" marL="0">
              <a:buNone/>
            </a:pPr>
            <a:r>
              <a:rPr lang="en-US" sz="1300" dirty="0">
                <a:solidFill>
                  <a:srgbClr val="13153A"/>
                </a:solidFill>
                <a:latin typeface="Calibri" pitchFamily="34" charset="0"/>
                <a:ea typeface="Calibri" pitchFamily="34" charset="-122"/>
                <a:cs typeface="Calibri" pitchFamily="34" charset="-120"/>
              </a:rPr>
              <a:t>This wager</a:t>
            </a:r>
            <a:endParaRPr lang="en-US" sz="1300" dirty="0"/>
          </a:p>
        </p:txBody>
      </p:sp>
      <p:sp>
        <p:nvSpPr>
          <p:cNvPr id="7" name="Text 5"/>
          <p:cNvSpPr/>
          <p:nvPr/>
        </p:nvSpPr>
        <p:spPr>
          <a:xfrm>
            <a:off x="3154680" y="2331720"/>
            <a:ext cx="137160" cy="640080"/>
          </a:xfrm>
          <a:prstGeom prst="rect">
            <a:avLst/>
          </a:prstGeom>
          <a:noFill/>
          <a:ln/>
        </p:spPr>
        <p:txBody>
          <a:bodyPr wrap="square" lIns="0" tIns="0" rIns="0" bIns="0" rtlCol="0" anchor="ctr"/>
          <a:lstStyle/>
          <a:p>
            <a:pPr algn="ctr" indent="0" marL="0">
              <a:buNone/>
            </a:pPr>
            <a:r>
              <a:rPr lang="en-US" sz="2200" dirty="0">
                <a:solidFill>
                  <a:srgbClr val="C9A227"/>
                </a:solidFill>
                <a:latin typeface="Cambria" pitchFamily="34" charset="0"/>
                <a:ea typeface="Cambria" pitchFamily="34" charset="-122"/>
                <a:cs typeface="Cambria" pitchFamily="34" charset="-120"/>
              </a:rPr>
              <a:t>→</a:t>
            </a:r>
            <a:endParaRPr lang="en-US" sz="2200" dirty="0"/>
          </a:p>
        </p:txBody>
      </p:sp>
      <p:sp>
        <p:nvSpPr>
          <p:cNvPr id="8" name="Shape 6"/>
          <p:cNvSpPr/>
          <p:nvPr/>
        </p:nvSpPr>
        <p:spPr>
          <a:xfrm>
            <a:off x="4229100" y="2286000"/>
            <a:ext cx="731520" cy="731520"/>
          </a:xfrm>
          <a:prstGeom prst="ellipse">
            <a:avLst/>
          </a:prstGeom>
          <a:solidFill>
            <a:srgbClr val="0A17B8"/>
          </a:solidFill>
          <a:ln/>
        </p:spPr>
      </p:sp>
      <p:sp>
        <p:nvSpPr>
          <p:cNvPr id="9" name="Text 7"/>
          <p:cNvSpPr/>
          <p:nvPr/>
        </p:nvSpPr>
        <p:spPr>
          <a:xfrm>
            <a:off x="4229100" y="228600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0" name="Text 8"/>
          <p:cNvSpPr/>
          <p:nvPr/>
        </p:nvSpPr>
        <p:spPr>
          <a:xfrm>
            <a:off x="3291840" y="3154680"/>
            <a:ext cx="2606040" cy="640080"/>
          </a:xfrm>
          <a:prstGeom prst="rect">
            <a:avLst/>
          </a:prstGeom>
          <a:noFill/>
          <a:ln/>
        </p:spPr>
        <p:txBody>
          <a:bodyPr wrap="square" lIns="0" tIns="0" rIns="0" bIns="0" rtlCol="0" anchor="ctr"/>
          <a:lstStyle/>
          <a:p>
            <a:pPr algn="ctr" indent="0" marL="0">
              <a:buNone/>
            </a:pPr>
            <a:r>
              <a:rPr lang="en-US" sz="1300" dirty="0">
                <a:solidFill>
                  <a:srgbClr val="13153A"/>
                </a:solidFill>
                <a:latin typeface="Calibri" pitchFamily="34" charset="0"/>
                <a:ea typeface="Calibri" pitchFamily="34" charset="-122"/>
                <a:cs typeface="Calibri" pitchFamily="34" charset="-120"/>
              </a:rPr>
              <a:t>More clues in play</a:t>
            </a:r>
            <a:endParaRPr lang="en-US" sz="1300" dirty="0"/>
          </a:p>
        </p:txBody>
      </p:sp>
      <p:sp>
        <p:nvSpPr>
          <p:cNvPr id="11" name="Text 9"/>
          <p:cNvSpPr/>
          <p:nvPr/>
        </p:nvSpPr>
        <p:spPr>
          <a:xfrm>
            <a:off x="5897880" y="2331720"/>
            <a:ext cx="137160" cy="640080"/>
          </a:xfrm>
          <a:prstGeom prst="rect">
            <a:avLst/>
          </a:prstGeom>
          <a:noFill/>
          <a:ln/>
        </p:spPr>
        <p:txBody>
          <a:bodyPr wrap="square" lIns="0" tIns="0" rIns="0" bIns="0" rtlCol="0" anchor="ctr"/>
          <a:lstStyle/>
          <a:p>
            <a:pPr algn="ctr" indent="0" marL="0">
              <a:buNone/>
            </a:pPr>
            <a:r>
              <a:rPr lang="en-US" sz="2200" dirty="0">
                <a:solidFill>
                  <a:srgbClr val="C9A227"/>
                </a:solidFill>
                <a:latin typeface="Cambria" pitchFamily="34" charset="0"/>
                <a:ea typeface="Cambria" pitchFamily="34" charset="-122"/>
                <a:cs typeface="Cambria" pitchFamily="34" charset="-120"/>
              </a:rPr>
              <a:t>→</a:t>
            </a:r>
            <a:endParaRPr lang="en-US" sz="2200" dirty="0"/>
          </a:p>
        </p:txBody>
      </p:sp>
      <p:sp>
        <p:nvSpPr>
          <p:cNvPr id="12" name="Shape 10"/>
          <p:cNvSpPr/>
          <p:nvPr/>
        </p:nvSpPr>
        <p:spPr>
          <a:xfrm>
            <a:off x="6972300" y="2286000"/>
            <a:ext cx="731520" cy="731520"/>
          </a:xfrm>
          <a:prstGeom prst="ellipse">
            <a:avLst/>
          </a:prstGeom>
          <a:solidFill>
            <a:srgbClr val="0A17B8"/>
          </a:solidFill>
          <a:ln/>
        </p:spPr>
      </p:sp>
      <p:sp>
        <p:nvSpPr>
          <p:cNvPr id="13" name="Text 11"/>
          <p:cNvSpPr/>
          <p:nvPr/>
        </p:nvSpPr>
        <p:spPr>
          <a:xfrm>
            <a:off x="6972300" y="228600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4" name="Text 12"/>
          <p:cNvSpPr/>
          <p:nvPr/>
        </p:nvSpPr>
        <p:spPr>
          <a:xfrm>
            <a:off x="6035040" y="3154680"/>
            <a:ext cx="2606040" cy="640080"/>
          </a:xfrm>
          <a:prstGeom prst="rect">
            <a:avLst/>
          </a:prstGeom>
          <a:noFill/>
          <a:ln/>
        </p:spPr>
        <p:txBody>
          <a:bodyPr wrap="square" lIns="0" tIns="0" rIns="0" bIns="0" rtlCol="0" anchor="ctr"/>
          <a:lstStyle/>
          <a:p>
            <a:pPr algn="ctr" indent="0" marL="0">
              <a:buNone/>
            </a:pPr>
            <a:r>
              <a:rPr lang="en-US" sz="1300" dirty="0">
                <a:solidFill>
                  <a:srgbClr val="13153A"/>
                </a:solidFill>
                <a:latin typeface="Calibri" pitchFamily="34" charset="0"/>
                <a:ea typeface="Calibri" pitchFamily="34" charset="-122"/>
                <a:cs typeface="Calibri" pitchFamily="34" charset="-120"/>
              </a:rPr>
              <a:t>Maybe another Daily Double</a:t>
            </a:r>
            <a:endParaRPr lang="en-US" sz="1300" dirty="0"/>
          </a:p>
        </p:txBody>
      </p:sp>
      <p:sp>
        <p:nvSpPr>
          <p:cNvPr id="15" name="Text 13"/>
          <p:cNvSpPr/>
          <p:nvPr/>
        </p:nvSpPr>
        <p:spPr>
          <a:xfrm>
            <a:off x="8641080" y="2331720"/>
            <a:ext cx="137160" cy="640080"/>
          </a:xfrm>
          <a:prstGeom prst="rect">
            <a:avLst/>
          </a:prstGeom>
          <a:noFill/>
          <a:ln/>
        </p:spPr>
        <p:txBody>
          <a:bodyPr wrap="square" lIns="0" tIns="0" rIns="0" bIns="0" rtlCol="0" anchor="ctr"/>
          <a:lstStyle/>
          <a:p>
            <a:pPr algn="ctr" indent="0" marL="0">
              <a:buNone/>
            </a:pPr>
            <a:r>
              <a:rPr lang="en-US" sz="2200" dirty="0">
                <a:solidFill>
                  <a:srgbClr val="C9A227"/>
                </a:solidFill>
                <a:latin typeface="Cambria" pitchFamily="34" charset="0"/>
                <a:ea typeface="Cambria" pitchFamily="34" charset="-122"/>
                <a:cs typeface="Cambria" pitchFamily="34" charset="-120"/>
              </a:rPr>
              <a:t>→</a:t>
            </a:r>
            <a:endParaRPr lang="en-US" sz="2200" dirty="0"/>
          </a:p>
        </p:txBody>
      </p:sp>
      <p:sp>
        <p:nvSpPr>
          <p:cNvPr id="16" name="Shape 14"/>
          <p:cNvSpPr/>
          <p:nvPr/>
        </p:nvSpPr>
        <p:spPr>
          <a:xfrm>
            <a:off x="9715500" y="2286000"/>
            <a:ext cx="731520" cy="731520"/>
          </a:xfrm>
          <a:prstGeom prst="ellipse">
            <a:avLst/>
          </a:prstGeom>
          <a:solidFill>
            <a:srgbClr val="0A17B8"/>
          </a:solidFill>
          <a:ln/>
        </p:spPr>
      </p:sp>
      <p:sp>
        <p:nvSpPr>
          <p:cNvPr id="17" name="Text 15"/>
          <p:cNvSpPr/>
          <p:nvPr/>
        </p:nvSpPr>
        <p:spPr>
          <a:xfrm>
            <a:off x="9715500" y="228600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18" name="Text 16"/>
          <p:cNvSpPr/>
          <p:nvPr/>
        </p:nvSpPr>
        <p:spPr>
          <a:xfrm>
            <a:off x="8778240" y="3154680"/>
            <a:ext cx="2606040" cy="640080"/>
          </a:xfrm>
          <a:prstGeom prst="rect">
            <a:avLst/>
          </a:prstGeom>
          <a:noFill/>
          <a:ln/>
        </p:spPr>
        <p:txBody>
          <a:bodyPr wrap="square" lIns="0" tIns="0" rIns="0" bIns="0" rtlCol="0" anchor="ctr"/>
          <a:lstStyle/>
          <a:p>
            <a:pPr algn="ctr" indent="0" marL="0">
              <a:buNone/>
            </a:pPr>
            <a:r>
              <a:rPr lang="en-US" sz="1300" dirty="0">
                <a:solidFill>
                  <a:srgbClr val="13153A"/>
                </a:solidFill>
                <a:latin typeface="Calibri" pitchFamily="34" charset="0"/>
                <a:ea typeface="Calibri" pitchFamily="34" charset="-122"/>
                <a:cs typeface="Calibri" pitchFamily="34" charset="-120"/>
              </a:rPr>
              <a:t>Final Jeopardy</a:t>
            </a:r>
            <a:endParaRPr lang="en-US" sz="1300" dirty="0"/>
          </a:p>
        </p:txBody>
      </p:sp>
      <p:sp>
        <p:nvSpPr>
          <p:cNvPr id="19" name="Text 17"/>
          <p:cNvSpPr/>
          <p:nvPr/>
        </p:nvSpPr>
        <p:spPr>
          <a:xfrm>
            <a:off x="822960" y="4297680"/>
            <a:ext cx="10515600" cy="822960"/>
          </a:xfrm>
          <a:prstGeom prst="rect">
            <a:avLst/>
          </a:prstGeom>
          <a:noFill/>
          <a:ln/>
        </p:spPr>
        <p:txBody>
          <a:bodyPr wrap="square" lIns="0" tIns="0" rIns="0" bIns="0" rtlCol="0" anchor="ctr"/>
          <a:lstStyle/>
          <a:p>
            <a:pPr indent="0" marL="0">
              <a:lnSpc>
                <a:spcPct val="130000"/>
              </a:lnSpc>
              <a:buNone/>
            </a:pPr>
            <a:r>
              <a:rPr lang="en-US" sz="1600" dirty="0">
                <a:solidFill>
                  <a:srgbClr val="13153A"/>
                </a:solidFill>
                <a:latin typeface="Calibri" pitchFamily="34" charset="0"/>
                <a:ea typeface="Calibri" pitchFamily="34" charset="-122"/>
                <a:cs typeface="Calibri" pitchFamily="34" charset="-120"/>
              </a:rPr>
              <a:t>There's no clean formula for that many moving parts. So the engine simulates the rest of the game forward, thousands of times, for every candidate wager -- and recommends whichever wins most often.</a:t>
            </a:r>
            <a:endParaRPr lang="en-US" sz="1600" dirty="0"/>
          </a:p>
        </p:txBody>
      </p:sp>
      <p:sp>
        <p:nvSpPr>
          <p:cNvPr id="20" name="Text 18"/>
          <p:cNvSpPr/>
          <p:nvPr/>
        </p:nvSpPr>
        <p:spPr>
          <a:xfrm>
            <a:off x="822960" y="5257800"/>
            <a:ext cx="10515600" cy="457200"/>
          </a:xfrm>
          <a:prstGeom prst="rect">
            <a:avLst/>
          </a:prstGeom>
          <a:noFill/>
          <a:ln/>
        </p:spPr>
        <p:txBody>
          <a:bodyPr wrap="square" lIns="0" tIns="0" rIns="0" bIns="0" rtlCol="0" anchor="ctr"/>
          <a:lstStyle/>
          <a:p>
            <a:pPr indent="0" marL="0">
              <a:buNone/>
            </a:pPr>
            <a:r>
              <a:rPr lang="en-US" sz="1300" i="1" dirty="0">
                <a:solidFill>
                  <a:srgbClr val="4A4E7A"/>
                </a:solidFill>
                <a:latin typeface="Calibri" pitchFamily="34" charset="0"/>
                <a:ea typeface="Calibri" pitchFamily="34" charset="-122"/>
                <a:cs typeface="Calibri" pitchFamily="34" charset="-120"/>
              </a:rPr>
              <a:t>The next slide shows why that simulation has to be read carefully.</a:t>
            </a:r>
            <a:endParaRPr lang="en-US" sz="1300" dirty="0"/>
          </a:p>
        </p:txBody>
      </p:sp>
      <p:sp>
        <p:nvSpPr>
          <p:cNvPr id="21" name="Text 19"/>
          <p:cNvSpPr/>
          <p:nvPr/>
        </p:nvSpPr>
        <p:spPr>
          <a:xfrm>
            <a:off x="11475720" y="6446520"/>
            <a:ext cx="457200" cy="274320"/>
          </a:xfrm>
          <a:prstGeom prst="rect">
            <a:avLst/>
          </a:prstGeom>
          <a:noFill/>
          <a:ln/>
        </p:spPr>
        <p:txBody>
          <a:bodyPr wrap="square" lIns="0" tIns="0" rIns="0" bIns="0" rtlCol="0" anchor="ctr"/>
          <a:lstStyle/>
          <a:p>
            <a:pPr algn="r" indent="0" marL="0">
              <a:buNone/>
            </a:pPr>
            <a:r>
              <a:rPr lang="en-US" sz="1000" dirty="0">
                <a:solidFill>
                  <a:srgbClr val="4A4E7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indent="0" marL="0">
              <a:buNone/>
            </a:pPr>
            <a:r>
              <a:rPr lang="en-US" sz="3200" b="1" dirty="0">
                <a:solidFill>
                  <a:srgbClr val="13153A"/>
                </a:solidFill>
                <a:latin typeface="Cambria" pitchFamily="34" charset="0"/>
                <a:ea typeface="Cambria" pitchFamily="34" charset="-122"/>
                <a:cs typeface="Cambria" pitchFamily="34" charset="-120"/>
              </a:rPr>
              <a:t>A 12x swing that shouldn't happen</a:t>
            </a:r>
            <a:endParaRPr lang="en-US" sz="3200" dirty="0"/>
          </a:p>
        </p:txBody>
      </p:sp>
      <p:sp>
        <p:nvSpPr>
          <p:cNvPr id="3" name="Text 1"/>
          <p:cNvSpPr/>
          <p:nvPr/>
        </p:nvSpPr>
        <p:spPr>
          <a:xfrm>
            <a:off x="548640" y="1051560"/>
            <a:ext cx="11091672" cy="457200"/>
          </a:xfrm>
          <a:prstGeom prst="rect">
            <a:avLst/>
          </a:prstGeom>
          <a:noFill/>
          <a:ln/>
        </p:spPr>
        <p:txBody>
          <a:bodyPr wrap="square" lIns="0" tIns="0" rIns="0" bIns="0" rtlCol="0" anchor="ctr"/>
          <a:lstStyle/>
          <a:p>
            <a:pPr indent="0" marL="0">
              <a:buNone/>
            </a:pPr>
            <a:r>
              <a:rPr lang="en-US" sz="1400" dirty="0">
                <a:solidFill>
                  <a:srgbClr val="4A4E7A"/>
                </a:solidFill>
                <a:latin typeface="Calibri" pitchFamily="34" charset="0"/>
                <a:ea typeface="Calibri" pitchFamily="34" charset="-122"/>
                <a:cs typeface="Calibri" pitchFamily="34" charset="-120"/>
              </a:rPr>
              <a:t>Same scores. Confidence moved two points. The old engine's recommendation should not have moved this much.</a:t>
            </a:r>
            <a:endParaRPr lang="en-US" sz="1400" dirty="0"/>
          </a:p>
        </p:txBody>
      </p:sp>
      <p:sp>
        <p:nvSpPr>
          <p:cNvPr id="4" name="Shape 2"/>
          <p:cNvSpPr/>
          <p:nvPr/>
        </p:nvSpPr>
        <p:spPr>
          <a:xfrm>
            <a:off x="822960" y="1920240"/>
            <a:ext cx="5029200" cy="1554480"/>
          </a:xfrm>
          <a:prstGeom prst="roundRect">
            <a:avLst>
              <a:gd name="adj" fmla="val 5882"/>
            </a:avLst>
          </a:prstGeom>
          <a:solidFill>
            <a:srgbClr val="FBEAEA"/>
          </a:solidFill>
          <a:ln/>
        </p:spPr>
      </p:sp>
      <p:sp>
        <p:nvSpPr>
          <p:cNvPr id="5" name="Text 3"/>
          <p:cNvSpPr/>
          <p:nvPr/>
        </p:nvSpPr>
        <p:spPr>
          <a:xfrm>
            <a:off x="822960" y="2084832"/>
            <a:ext cx="5029200" cy="365760"/>
          </a:xfrm>
          <a:prstGeom prst="rect">
            <a:avLst/>
          </a:prstGeom>
          <a:noFill/>
          <a:ln/>
        </p:spPr>
        <p:txBody>
          <a:bodyPr wrap="square" lIns="0" tIns="0" rIns="0" bIns="0" rtlCol="0" anchor="ctr"/>
          <a:lstStyle/>
          <a:p>
            <a:pPr algn="ctr" indent="0" marL="0">
              <a:buNone/>
            </a:pPr>
            <a:r>
              <a:rPr lang="en-US" sz="1300" dirty="0">
                <a:solidFill>
                  <a:srgbClr val="8A2C2C"/>
                </a:solidFill>
                <a:latin typeface="Calibri" pitchFamily="34" charset="0"/>
                <a:ea typeface="Calibri" pitchFamily="34" charset="-122"/>
                <a:cs typeface="Calibri" pitchFamily="34" charset="-120"/>
              </a:rPr>
              <a:t>42% confidence</a:t>
            </a:r>
            <a:endParaRPr lang="en-US" sz="1300" dirty="0"/>
          </a:p>
        </p:txBody>
      </p:sp>
      <p:sp>
        <p:nvSpPr>
          <p:cNvPr id="6" name="Text 4"/>
          <p:cNvSpPr/>
          <p:nvPr/>
        </p:nvSpPr>
        <p:spPr>
          <a:xfrm>
            <a:off x="822960" y="2377440"/>
            <a:ext cx="5029200" cy="914400"/>
          </a:xfrm>
          <a:prstGeom prst="rect">
            <a:avLst/>
          </a:prstGeom>
          <a:noFill/>
          <a:ln/>
        </p:spPr>
        <p:txBody>
          <a:bodyPr wrap="square" lIns="0" tIns="0" rIns="0" bIns="0" rtlCol="0" anchor="ctr"/>
          <a:lstStyle/>
          <a:p>
            <a:pPr algn="ctr" indent="0" marL="0">
              <a:buNone/>
            </a:pPr>
            <a:r>
              <a:rPr lang="en-US" sz="4000" b="1" dirty="0">
                <a:solidFill>
                  <a:srgbClr val="B93A3A"/>
                </a:solidFill>
                <a:latin typeface="Cambria" pitchFamily="34" charset="0"/>
                <a:ea typeface="Cambria" pitchFamily="34" charset="-122"/>
                <a:cs typeface="Cambria" pitchFamily="34" charset="-120"/>
              </a:rPr>
              <a:t>$350</a:t>
            </a:r>
            <a:endParaRPr lang="en-US" sz="4000" dirty="0"/>
          </a:p>
        </p:txBody>
      </p:sp>
      <p:sp>
        <p:nvSpPr>
          <p:cNvPr id="7" name="Shape 5"/>
          <p:cNvSpPr/>
          <p:nvPr/>
        </p:nvSpPr>
        <p:spPr>
          <a:xfrm>
            <a:off x="6217920" y="1920240"/>
            <a:ext cx="5029200" cy="1554480"/>
          </a:xfrm>
          <a:prstGeom prst="roundRect">
            <a:avLst>
              <a:gd name="adj" fmla="val 5882"/>
            </a:avLst>
          </a:prstGeom>
          <a:solidFill>
            <a:srgbClr val="FBEAEA"/>
          </a:solidFill>
          <a:ln/>
        </p:spPr>
      </p:sp>
      <p:sp>
        <p:nvSpPr>
          <p:cNvPr id="8" name="Text 6"/>
          <p:cNvSpPr/>
          <p:nvPr/>
        </p:nvSpPr>
        <p:spPr>
          <a:xfrm>
            <a:off x="6217920" y="2084832"/>
            <a:ext cx="5029200" cy="365760"/>
          </a:xfrm>
          <a:prstGeom prst="rect">
            <a:avLst/>
          </a:prstGeom>
          <a:noFill/>
          <a:ln/>
        </p:spPr>
        <p:txBody>
          <a:bodyPr wrap="square" lIns="0" tIns="0" rIns="0" bIns="0" rtlCol="0" anchor="ctr"/>
          <a:lstStyle/>
          <a:p>
            <a:pPr algn="ctr" indent="0" marL="0">
              <a:buNone/>
            </a:pPr>
            <a:r>
              <a:rPr lang="en-US" sz="1300" dirty="0">
                <a:solidFill>
                  <a:srgbClr val="8A2C2C"/>
                </a:solidFill>
                <a:latin typeface="Calibri" pitchFamily="34" charset="0"/>
                <a:ea typeface="Calibri" pitchFamily="34" charset="-122"/>
                <a:cs typeface="Calibri" pitchFamily="34" charset="-120"/>
              </a:rPr>
              <a:t>44% confidence</a:t>
            </a:r>
            <a:endParaRPr lang="en-US" sz="1300" dirty="0"/>
          </a:p>
        </p:txBody>
      </p:sp>
      <p:sp>
        <p:nvSpPr>
          <p:cNvPr id="9" name="Text 7"/>
          <p:cNvSpPr/>
          <p:nvPr/>
        </p:nvSpPr>
        <p:spPr>
          <a:xfrm>
            <a:off x="6217920" y="2377440"/>
            <a:ext cx="5029200" cy="914400"/>
          </a:xfrm>
          <a:prstGeom prst="rect">
            <a:avLst/>
          </a:prstGeom>
          <a:noFill/>
          <a:ln/>
        </p:spPr>
        <p:txBody>
          <a:bodyPr wrap="square" lIns="0" tIns="0" rIns="0" bIns="0" rtlCol="0" anchor="ctr"/>
          <a:lstStyle/>
          <a:p>
            <a:pPr algn="ctr" indent="0" marL="0">
              <a:buNone/>
            </a:pPr>
            <a:r>
              <a:rPr lang="en-US" sz="4000" b="1" dirty="0">
                <a:solidFill>
                  <a:srgbClr val="B93A3A"/>
                </a:solidFill>
                <a:latin typeface="Cambria" pitchFamily="34" charset="0"/>
                <a:ea typeface="Cambria" pitchFamily="34" charset="-122"/>
                <a:cs typeface="Cambria" pitchFamily="34" charset="-120"/>
              </a:rPr>
              <a:t>$4,200</a:t>
            </a:r>
            <a:endParaRPr lang="en-US" sz="4000" dirty="0"/>
          </a:p>
        </p:txBody>
      </p:sp>
      <p:sp>
        <p:nvSpPr>
          <p:cNvPr id="10" name="Text 8"/>
          <p:cNvSpPr/>
          <p:nvPr/>
        </p:nvSpPr>
        <p:spPr>
          <a:xfrm>
            <a:off x="822960" y="3611880"/>
            <a:ext cx="10515600" cy="320040"/>
          </a:xfrm>
          <a:prstGeom prst="rect">
            <a:avLst/>
          </a:prstGeom>
          <a:noFill/>
          <a:ln/>
        </p:spPr>
        <p:txBody>
          <a:bodyPr wrap="square" lIns="0" tIns="0" rIns="0" bIns="0" rtlCol="0" anchor="ctr"/>
          <a:lstStyle/>
          <a:p>
            <a:pPr algn="ctr" indent="0" marL="0">
              <a:buNone/>
            </a:pPr>
            <a:r>
              <a:rPr lang="en-US" sz="1200" b="1" dirty="0">
                <a:solidFill>
                  <a:srgbClr val="8A2C2C"/>
                </a:solidFill>
                <a:latin typeface="Calibri" pitchFamily="34" charset="0"/>
                <a:ea typeface="Calibri" pitchFamily="34" charset="-122"/>
                <a:cs typeface="Calibri" pitchFamily="34" charset="-120"/>
              </a:rPr>
              <a:t>BEFORE THE FIX -- a real bug, not a hypothetical</a:t>
            </a:r>
            <a:endParaRPr lang="en-US" sz="1200" dirty="0"/>
          </a:p>
        </p:txBody>
      </p:sp>
      <p:sp>
        <p:nvSpPr>
          <p:cNvPr id="11" name="Shape 9"/>
          <p:cNvSpPr/>
          <p:nvPr/>
        </p:nvSpPr>
        <p:spPr>
          <a:xfrm>
            <a:off x="1737360" y="4160520"/>
            <a:ext cx="8686800" cy="1737360"/>
          </a:xfrm>
          <a:prstGeom prst="roundRect">
            <a:avLst>
              <a:gd name="adj" fmla="val 6316"/>
            </a:avLst>
          </a:prstGeom>
          <a:solidFill>
            <a:srgbClr val="04086B"/>
          </a:solidFill>
          <a:ln/>
        </p:spPr>
      </p:sp>
      <p:sp>
        <p:nvSpPr>
          <p:cNvPr id="12" name="Text 10"/>
          <p:cNvSpPr/>
          <p:nvPr/>
        </p:nvSpPr>
        <p:spPr>
          <a:xfrm>
            <a:off x="1737360" y="4343400"/>
            <a:ext cx="8686800" cy="320040"/>
          </a:xfrm>
          <a:prstGeom prst="rect">
            <a:avLst/>
          </a:prstGeom>
          <a:noFill/>
          <a:ln/>
        </p:spPr>
        <p:txBody>
          <a:bodyPr wrap="square" lIns="0" tIns="0" rIns="0" bIns="0" rtlCol="0" anchor="ctr"/>
          <a:lstStyle/>
          <a:p>
            <a:pPr algn="ctr" indent="0" marL="0">
              <a:buNone/>
            </a:pPr>
            <a:r>
              <a:rPr lang="en-US" sz="1200" dirty="0">
                <a:solidFill>
                  <a:srgbClr val="C9A227"/>
                </a:solidFill>
                <a:latin typeface="Calibri" pitchFamily="34" charset="0"/>
                <a:ea typeface="Calibri" pitchFamily="34" charset="-122"/>
                <a:cs typeface="Calibri" pitchFamily="34" charset="-120"/>
              </a:rPr>
              <a:t>AFTER THE FIX -- both confidence levels</a:t>
            </a:r>
            <a:endParaRPr lang="en-US" sz="1200" dirty="0"/>
          </a:p>
        </p:txBody>
      </p:sp>
      <p:sp>
        <p:nvSpPr>
          <p:cNvPr id="13" name="Text 11"/>
          <p:cNvSpPr/>
          <p:nvPr/>
        </p:nvSpPr>
        <p:spPr>
          <a:xfrm>
            <a:off x="1737360" y="4617720"/>
            <a:ext cx="8686800" cy="777240"/>
          </a:xfrm>
          <a:prstGeom prst="rect">
            <a:avLst/>
          </a:prstGeom>
          <a:noFill/>
          <a:ln/>
        </p:spPr>
        <p:txBody>
          <a:bodyPr wrap="square" lIns="0" tIns="0" rIns="0" bIns="0" rtlCol="0" anchor="ctr"/>
          <a:lstStyle/>
          <a:p>
            <a:pPr algn="ctr" indent="0" marL="0">
              <a:buNone/>
            </a:pPr>
            <a:r>
              <a:rPr lang="en-US" sz="4600" b="1" dirty="0">
                <a:solidFill>
                  <a:srgbClr val="FFCC00"/>
                </a:solidFill>
                <a:latin typeface="Cambria" pitchFamily="34" charset="0"/>
                <a:ea typeface="Cambria" pitchFamily="34" charset="-122"/>
                <a:cs typeface="Cambria" pitchFamily="34" charset="-120"/>
              </a:rPr>
              <a:t>$0</a:t>
            </a:r>
            <a:endParaRPr lang="en-US" sz="4600" dirty="0"/>
          </a:p>
        </p:txBody>
      </p:sp>
      <p:sp>
        <p:nvSpPr>
          <p:cNvPr id="14" name="Text 12"/>
          <p:cNvSpPr/>
          <p:nvPr/>
        </p:nvSpPr>
        <p:spPr>
          <a:xfrm>
            <a:off x="2194560" y="5440680"/>
            <a:ext cx="7772400" cy="411480"/>
          </a:xfrm>
          <a:prstGeom prst="rect">
            <a:avLst/>
          </a:prstGeom>
          <a:noFill/>
          <a:ln/>
        </p:spPr>
        <p:txBody>
          <a:bodyPr wrap="square" lIns="0" tIns="0" rIns="0" bIns="0" rtlCol="0" anchor="ctr"/>
          <a:lstStyle/>
          <a:p>
            <a:pPr algn="ctr" indent="0" marL="0">
              <a:buNone/>
            </a:pPr>
            <a:r>
              <a:rPr lang="en-US" sz="1200" i="1" dirty="0">
                <a:solidFill>
                  <a:srgbClr val="E4E7FF"/>
                </a:solidFill>
                <a:latin typeface="Calibri" pitchFamily="34" charset="0"/>
                <a:ea typeface="Calibri" pitchFamily="34" charset="-122"/>
                <a:cs typeface="Calibri" pitchFamily="34" charset="-120"/>
              </a:rPr>
              <a:t>The engine now tracks each estimate's statistical uncertainty, and only trusts a difference it can actually detect.</a:t>
            </a:r>
            <a:endParaRPr lang="en-US" sz="1200" dirty="0"/>
          </a:p>
        </p:txBody>
      </p:sp>
      <p:sp>
        <p:nvSpPr>
          <p:cNvPr id="15" name="Text 13"/>
          <p:cNvSpPr/>
          <p:nvPr/>
        </p:nvSpPr>
        <p:spPr>
          <a:xfrm>
            <a:off x="11475720" y="6446520"/>
            <a:ext cx="457200" cy="274320"/>
          </a:xfrm>
          <a:prstGeom prst="rect">
            <a:avLst/>
          </a:prstGeom>
          <a:noFill/>
          <a:ln/>
        </p:spPr>
        <p:txBody>
          <a:bodyPr wrap="square" lIns="0" tIns="0" rIns="0" bIns="0" rtlCol="0" anchor="ctr"/>
          <a:lstStyle/>
          <a:p>
            <a:pPr algn="r" indent="0" marL="0">
              <a:buNone/>
            </a:pPr>
            <a:r>
              <a:rPr lang="en-US" sz="1000" dirty="0">
                <a:solidFill>
                  <a:srgbClr val="4A4E7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indent="0" marL="0">
              <a:buNone/>
            </a:pPr>
            <a:r>
              <a:rPr lang="en-US" sz="3200" b="1" dirty="0">
                <a:solidFill>
                  <a:srgbClr val="13153A"/>
                </a:solidFill>
                <a:latin typeface="Cambria" pitchFamily="34" charset="0"/>
                <a:ea typeface="Cambria" pitchFamily="34" charset="-122"/>
                <a:cs typeface="Cambria" pitchFamily="34" charset="-120"/>
              </a:rPr>
              <a:t>Even long shots get modeled correctly</a:t>
            </a:r>
            <a:endParaRPr lang="en-US" sz="3200" dirty="0"/>
          </a:p>
        </p:txBody>
      </p:sp>
      <p:sp>
        <p:nvSpPr>
          <p:cNvPr id="3" name="Text 1"/>
          <p:cNvSpPr/>
          <p:nvPr/>
        </p:nvSpPr>
        <p:spPr>
          <a:xfrm>
            <a:off x="548640" y="1051560"/>
            <a:ext cx="11091672" cy="457200"/>
          </a:xfrm>
          <a:prstGeom prst="rect">
            <a:avLst/>
          </a:prstGeom>
          <a:noFill/>
          <a:ln/>
        </p:spPr>
        <p:txBody>
          <a:bodyPr wrap="square" lIns="0" tIns="0" rIns="0" bIns="0" rtlCol="0" anchor="ctr"/>
          <a:lstStyle/>
          <a:p>
            <a:pPr indent="0" marL="0">
              <a:buNone/>
            </a:pPr>
            <a:r>
              <a:rPr lang="en-US" sz="1400" dirty="0">
                <a:solidFill>
                  <a:srgbClr val="4A4E7A"/>
                </a:solidFill>
                <a:latin typeface="Calibri" pitchFamily="34" charset="0"/>
                <a:ea typeface="Calibri" pitchFamily="34" charset="-122"/>
                <a:cs typeface="Calibri" pitchFamily="34" charset="-120"/>
              </a:rPr>
              <a:t>You're in 3rd place. Can you still win Final Jeopardy if both leaders bet big and miss?</a:t>
            </a:r>
            <a:endParaRPr lang="en-US" sz="1400" dirty="0"/>
          </a:p>
        </p:txBody>
      </p:sp>
      <p:sp>
        <p:nvSpPr>
          <p:cNvPr id="4" name="Shape 2"/>
          <p:cNvSpPr/>
          <p:nvPr/>
        </p:nvSpPr>
        <p:spPr>
          <a:xfrm>
            <a:off x="822960" y="1965960"/>
            <a:ext cx="3291840" cy="1005840"/>
          </a:xfrm>
          <a:prstGeom prst="roundRect">
            <a:avLst>
              <a:gd name="adj" fmla="val 9091"/>
            </a:avLst>
          </a:prstGeom>
          <a:solidFill>
            <a:srgbClr val="FFCC00"/>
          </a:solidFill>
          <a:ln/>
        </p:spPr>
      </p:sp>
      <p:sp>
        <p:nvSpPr>
          <p:cNvPr id="5" name="Text 3"/>
          <p:cNvSpPr/>
          <p:nvPr/>
        </p:nvSpPr>
        <p:spPr>
          <a:xfrm>
            <a:off x="822960" y="2075688"/>
            <a:ext cx="3291840" cy="320040"/>
          </a:xfrm>
          <a:prstGeom prst="rect">
            <a:avLst/>
          </a:prstGeom>
          <a:noFill/>
          <a:ln/>
        </p:spPr>
        <p:txBody>
          <a:bodyPr wrap="square" lIns="0" tIns="0" rIns="0" bIns="0" rtlCol="0" anchor="ctr"/>
          <a:lstStyle/>
          <a:p>
            <a:pPr algn="ctr" indent="0" marL="0">
              <a:buNone/>
            </a:pPr>
            <a:r>
              <a:rPr lang="en-US" sz="1200" dirty="0">
                <a:solidFill>
                  <a:srgbClr val="04086B"/>
                </a:solidFill>
                <a:latin typeface="Calibri" pitchFamily="34" charset="0"/>
                <a:ea typeface="Calibri" pitchFamily="34" charset="-122"/>
                <a:cs typeface="Calibri" pitchFamily="34" charset="-120"/>
              </a:rPr>
              <a:t>You</a:t>
            </a:r>
            <a:endParaRPr lang="en-US" sz="1200" dirty="0"/>
          </a:p>
        </p:txBody>
      </p:sp>
      <p:sp>
        <p:nvSpPr>
          <p:cNvPr id="6" name="Text 4"/>
          <p:cNvSpPr/>
          <p:nvPr/>
        </p:nvSpPr>
        <p:spPr>
          <a:xfrm>
            <a:off x="822960" y="2331720"/>
            <a:ext cx="3291840" cy="548640"/>
          </a:xfrm>
          <a:prstGeom prst="rect">
            <a:avLst/>
          </a:prstGeom>
          <a:noFill/>
          <a:ln/>
        </p:spPr>
        <p:txBody>
          <a:bodyPr wrap="square" lIns="0" tIns="0" rIns="0" bIns="0" rtlCol="0" anchor="ctr"/>
          <a:lstStyle/>
          <a:p>
            <a:pPr algn="ctr" indent="0" marL="0">
              <a:buNone/>
            </a:pPr>
            <a:r>
              <a:rPr lang="en-US" sz="2400" b="1" dirty="0">
                <a:solidFill>
                  <a:srgbClr val="04086B"/>
                </a:solidFill>
                <a:latin typeface="Cambria" pitchFamily="34" charset="0"/>
                <a:ea typeface="Cambria" pitchFamily="34" charset="-122"/>
                <a:cs typeface="Cambria" pitchFamily="34" charset="-120"/>
              </a:rPr>
              <a:t>$4,000</a:t>
            </a:r>
            <a:endParaRPr lang="en-US" sz="2400" dirty="0"/>
          </a:p>
        </p:txBody>
      </p:sp>
      <p:sp>
        <p:nvSpPr>
          <p:cNvPr id="7" name="Shape 5"/>
          <p:cNvSpPr/>
          <p:nvPr/>
        </p:nvSpPr>
        <p:spPr>
          <a:xfrm>
            <a:off x="4389120" y="1965960"/>
            <a:ext cx="3291840" cy="1005840"/>
          </a:xfrm>
          <a:prstGeom prst="roundRect">
            <a:avLst>
              <a:gd name="adj" fmla="val 9091"/>
            </a:avLst>
          </a:prstGeom>
          <a:solidFill>
            <a:srgbClr val="E9E9F5"/>
          </a:solidFill>
          <a:ln/>
        </p:spPr>
      </p:sp>
      <p:sp>
        <p:nvSpPr>
          <p:cNvPr id="8" name="Text 6"/>
          <p:cNvSpPr/>
          <p:nvPr/>
        </p:nvSpPr>
        <p:spPr>
          <a:xfrm>
            <a:off x="4389120" y="2075688"/>
            <a:ext cx="3291840" cy="320040"/>
          </a:xfrm>
          <a:prstGeom prst="rect">
            <a:avLst/>
          </a:prstGeom>
          <a:noFill/>
          <a:ln/>
        </p:spPr>
        <p:txBody>
          <a:bodyPr wrap="square" lIns="0" tIns="0" rIns="0" bIns="0" rtlCol="0" anchor="ctr"/>
          <a:lstStyle/>
          <a:p>
            <a:pPr algn="ctr" indent="0" marL="0">
              <a:buNone/>
            </a:pPr>
            <a:r>
              <a:rPr lang="en-US" sz="1200" dirty="0">
                <a:solidFill>
                  <a:srgbClr val="4A4E7A"/>
                </a:solidFill>
                <a:latin typeface="Calibri" pitchFamily="34" charset="0"/>
                <a:ea typeface="Calibri" pitchFamily="34" charset="-122"/>
                <a:cs typeface="Calibri" pitchFamily="34" charset="-120"/>
              </a:rPr>
              <a:t>Rival 1</a:t>
            </a:r>
            <a:endParaRPr lang="en-US" sz="1200" dirty="0"/>
          </a:p>
        </p:txBody>
      </p:sp>
      <p:sp>
        <p:nvSpPr>
          <p:cNvPr id="9" name="Text 7"/>
          <p:cNvSpPr/>
          <p:nvPr/>
        </p:nvSpPr>
        <p:spPr>
          <a:xfrm>
            <a:off x="4389120" y="2331720"/>
            <a:ext cx="3291840" cy="548640"/>
          </a:xfrm>
          <a:prstGeom prst="rect">
            <a:avLst/>
          </a:prstGeom>
          <a:noFill/>
          <a:ln/>
        </p:spPr>
        <p:txBody>
          <a:bodyPr wrap="square" lIns="0" tIns="0" rIns="0" bIns="0" rtlCol="0" anchor="ctr"/>
          <a:lstStyle/>
          <a:p>
            <a:pPr algn="ctr" indent="0" marL="0">
              <a:buNone/>
            </a:pPr>
            <a:r>
              <a:rPr lang="en-US" sz="2400" b="1" dirty="0">
                <a:solidFill>
                  <a:srgbClr val="4A4E7A"/>
                </a:solidFill>
                <a:latin typeface="Cambria" pitchFamily="34" charset="0"/>
                <a:ea typeface="Cambria" pitchFamily="34" charset="-122"/>
                <a:cs typeface="Cambria" pitchFamily="34" charset="-120"/>
              </a:rPr>
              <a:t>$9,000</a:t>
            </a:r>
            <a:endParaRPr lang="en-US" sz="2400" dirty="0"/>
          </a:p>
        </p:txBody>
      </p:sp>
      <p:sp>
        <p:nvSpPr>
          <p:cNvPr id="10" name="Shape 8"/>
          <p:cNvSpPr/>
          <p:nvPr/>
        </p:nvSpPr>
        <p:spPr>
          <a:xfrm>
            <a:off x="7955280" y="1965960"/>
            <a:ext cx="3291840" cy="1005840"/>
          </a:xfrm>
          <a:prstGeom prst="roundRect">
            <a:avLst>
              <a:gd name="adj" fmla="val 9091"/>
            </a:avLst>
          </a:prstGeom>
          <a:solidFill>
            <a:srgbClr val="E9E9F5"/>
          </a:solidFill>
          <a:ln/>
        </p:spPr>
      </p:sp>
      <p:sp>
        <p:nvSpPr>
          <p:cNvPr id="11" name="Text 9"/>
          <p:cNvSpPr/>
          <p:nvPr/>
        </p:nvSpPr>
        <p:spPr>
          <a:xfrm>
            <a:off x="7955280" y="2075688"/>
            <a:ext cx="3291840" cy="320040"/>
          </a:xfrm>
          <a:prstGeom prst="rect">
            <a:avLst/>
          </a:prstGeom>
          <a:noFill/>
          <a:ln/>
        </p:spPr>
        <p:txBody>
          <a:bodyPr wrap="square" lIns="0" tIns="0" rIns="0" bIns="0" rtlCol="0" anchor="ctr"/>
          <a:lstStyle/>
          <a:p>
            <a:pPr algn="ctr" indent="0" marL="0">
              <a:buNone/>
            </a:pPr>
            <a:r>
              <a:rPr lang="en-US" sz="1200" dirty="0">
                <a:solidFill>
                  <a:srgbClr val="4A4E7A"/>
                </a:solidFill>
                <a:latin typeface="Calibri" pitchFamily="34" charset="0"/>
                <a:ea typeface="Calibri" pitchFamily="34" charset="-122"/>
                <a:cs typeface="Calibri" pitchFamily="34" charset="-120"/>
              </a:rPr>
              <a:t>Rival 2</a:t>
            </a:r>
            <a:endParaRPr lang="en-US" sz="1200" dirty="0"/>
          </a:p>
        </p:txBody>
      </p:sp>
      <p:sp>
        <p:nvSpPr>
          <p:cNvPr id="12" name="Text 10"/>
          <p:cNvSpPr/>
          <p:nvPr/>
        </p:nvSpPr>
        <p:spPr>
          <a:xfrm>
            <a:off x="7955280" y="2331720"/>
            <a:ext cx="3291840" cy="548640"/>
          </a:xfrm>
          <a:prstGeom prst="rect">
            <a:avLst/>
          </a:prstGeom>
          <a:noFill/>
          <a:ln/>
        </p:spPr>
        <p:txBody>
          <a:bodyPr wrap="square" lIns="0" tIns="0" rIns="0" bIns="0" rtlCol="0" anchor="ctr"/>
          <a:lstStyle/>
          <a:p>
            <a:pPr algn="ctr" indent="0" marL="0">
              <a:buNone/>
            </a:pPr>
            <a:r>
              <a:rPr lang="en-US" sz="2400" b="1" dirty="0">
                <a:solidFill>
                  <a:srgbClr val="4A4E7A"/>
                </a:solidFill>
                <a:latin typeface="Cambria" pitchFamily="34" charset="0"/>
                <a:ea typeface="Cambria" pitchFamily="34" charset="-122"/>
                <a:cs typeface="Cambria" pitchFamily="34" charset="-120"/>
              </a:rPr>
              <a:t>$10,000</a:t>
            </a:r>
            <a:endParaRPr lang="en-US" sz="2400" dirty="0"/>
          </a:p>
        </p:txBody>
      </p:sp>
      <p:sp>
        <p:nvSpPr>
          <p:cNvPr id="13" name="Text 11"/>
          <p:cNvSpPr/>
          <p:nvPr/>
        </p:nvSpPr>
        <p:spPr>
          <a:xfrm>
            <a:off x="822960" y="3246120"/>
            <a:ext cx="10515600" cy="548640"/>
          </a:xfrm>
          <a:prstGeom prst="rect">
            <a:avLst/>
          </a:prstGeom>
          <a:noFill/>
          <a:ln/>
        </p:spPr>
        <p:txBody>
          <a:bodyPr wrap="square" lIns="0" tIns="0" rIns="0" bIns="0" rtlCol="0" anchor="ctr"/>
          <a:lstStyle/>
          <a:p>
            <a:pPr indent="0" marL="0">
              <a:lnSpc>
                <a:spcPct val="125000"/>
              </a:lnSpc>
              <a:buNone/>
            </a:pPr>
            <a:r>
              <a:rPr lang="en-US" sz="1400" dirty="0">
                <a:solidFill>
                  <a:srgbClr val="13153A"/>
                </a:solidFill>
                <a:latin typeface="Calibri" pitchFamily="34" charset="0"/>
                <a:ea typeface="Calibri" pitchFamily="34" charset="-122"/>
                <a:cs typeface="Calibri" pitchFamily="34" charset="-120"/>
              </a:rPr>
              <a:t>At 100% self-confidence, the model finds you win exactly when both rivals bet big and get it wrong -- fully independent events.</a:t>
            </a:r>
            <a:endParaRPr lang="en-US" sz="1400" dirty="0"/>
          </a:p>
        </p:txBody>
      </p:sp>
      <p:sp>
        <p:nvSpPr>
          <p:cNvPr id="14" name="Shape 12"/>
          <p:cNvSpPr/>
          <p:nvPr/>
        </p:nvSpPr>
        <p:spPr>
          <a:xfrm>
            <a:off x="3566160" y="3977640"/>
            <a:ext cx="5029200" cy="1874520"/>
          </a:xfrm>
          <a:prstGeom prst="roundRect">
            <a:avLst>
              <a:gd name="adj" fmla="val 5854"/>
            </a:avLst>
          </a:prstGeom>
          <a:solidFill>
            <a:srgbClr val="F4F5FF"/>
          </a:solidFill>
          <a:ln/>
        </p:spPr>
      </p:sp>
      <p:sp>
        <p:nvSpPr>
          <p:cNvPr id="15" name="Text 13"/>
          <p:cNvSpPr/>
          <p:nvPr/>
        </p:nvSpPr>
        <p:spPr>
          <a:xfrm>
            <a:off x="3566160" y="4160520"/>
            <a:ext cx="5029200" cy="868680"/>
          </a:xfrm>
          <a:prstGeom prst="rect">
            <a:avLst/>
          </a:prstGeom>
          <a:noFill/>
          <a:ln/>
        </p:spPr>
        <p:txBody>
          <a:bodyPr wrap="square" lIns="0" tIns="0" rIns="0" bIns="0" rtlCol="0" anchor="ctr"/>
          <a:lstStyle/>
          <a:p>
            <a:pPr algn="ctr" indent="0" marL="0">
              <a:buNone/>
            </a:pPr>
            <a:r>
              <a:rPr lang="en-US" sz="4800" b="1" dirty="0">
                <a:solidFill>
                  <a:srgbClr val="0A17B8"/>
                </a:solidFill>
                <a:latin typeface="Cambria" pitchFamily="34" charset="0"/>
                <a:ea typeface="Cambria" pitchFamily="34" charset="-122"/>
                <a:cs typeface="Cambria" pitchFamily="34" charset="-120"/>
              </a:rPr>
              <a:t>1 in 12</a:t>
            </a:r>
            <a:endParaRPr lang="en-US" sz="4800" dirty="0"/>
          </a:p>
        </p:txBody>
      </p:sp>
      <p:sp>
        <p:nvSpPr>
          <p:cNvPr id="16" name="Text 14"/>
          <p:cNvSpPr/>
          <p:nvPr/>
        </p:nvSpPr>
        <p:spPr>
          <a:xfrm>
            <a:off x="3566160" y="5029200"/>
            <a:ext cx="5029200" cy="365760"/>
          </a:xfrm>
          <a:prstGeom prst="rect">
            <a:avLst/>
          </a:prstGeom>
          <a:noFill/>
          <a:ln/>
        </p:spPr>
        <p:txBody>
          <a:bodyPr wrap="square" lIns="0" tIns="0" rIns="0" bIns="0" rtlCol="0" anchor="ctr"/>
          <a:lstStyle/>
          <a:p>
            <a:pPr algn="ctr" indent="0" marL="0">
              <a:buNone/>
            </a:pPr>
            <a:r>
              <a:rPr lang="en-US" sz="1300" dirty="0">
                <a:solidFill>
                  <a:srgbClr val="13153A"/>
                </a:solidFill>
                <a:latin typeface="Calibri" pitchFamily="34" charset="0"/>
                <a:ea typeface="Calibri" pitchFamily="34" charset="-122"/>
                <a:cs typeface="Calibri" pitchFamily="34" charset="-120"/>
              </a:rPr>
              <a:t>~8.3% chance to win from 3rd place</a:t>
            </a:r>
            <a:endParaRPr lang="en-US" sz="1300" dirty="0"/>
          </a:p>
        </p:txBody>
      </p:sp>
      <p:sp>
        <p:nvSpPr>
          <p:cNvPr id="17" name="Text 15"/>
          <p:cNvSpPr/>
          <p:nvPr/>
        </p:nvSpPr>
        <p:spPr>
          <a:xfrm>
            <a:off x="3794760" y="5394960"/>
            <a:ext cx="4572000" cy="411480"/>
          </a:xfrm>
          <a:prstGeom prst="rect">
            <a:avLst/>
          </a:prstGeom>
          <a:noFill/>
          <a:ln/>
        </p:spPr>
        <p:txBody>
          <a:bodyPr wrap="square" lIns="0" tIns="0" rIns="0" bIns="0" rtlCol="0" anchor="ctr"/>
          <a:lstStyle/>
          <a:p>
            <a:pPr algn="ctr" indent="0" marL="0">
              <a:buNone/>
            </a:pPr>
            <a:r>
              <a:rPr lang="en-US" sz="1100" i="1" dirty="0">
                <a:solidFill>
                  <a:srgbClr val="4A4E7A"/>
                </a:solidFill>
                <a:latin typeface="Calibri" pitchFamily="34" charset="0"/>
                <a:ea typeface="Calibri" pitchFamily="34" charset="-122"/>
                <a:cs typeface="Calibri" pitchFamily="34" charset="-120"/>
              </a:rPr>
              <a:t>matches the exact number the app showed -- verified by hand, not just by the code's own output</a:t>
            </a:r>
            <a:endParaRPr lang="en-US" sz="1100" dirty="0"/>
          </a:p>
        </p:txBody>
      </p:sp>
      <p:sp>
        <p:nvSpPr>
          <p:cNvPr id="18" name="Text 16"/>
          <p:cNvSpPr/>
          <p:nvPr/>
        </p:nvSpPr>
        <p:spPr>
          <a:xfrm>
            <a:off x="11475720" y="6446520"/>
            <a:ext cx="457200" cy="274320"/>
          </a:xfrm>
          <a:prstGeom prst="rect">
            <a:avLst/>
          </a:prstGeom>
          <a:noFill/>
          <a:ln/>
        </p:spPr>
        <p:txBody>
          <a:bodyPr wrap="square" lIns="0" tIns="0" rIns="0" bIns="0" rtlCol="0" anchor="ctr"/>
          <a:lstStyle/>
          <a:p>
            <a:pPr algn="r" indent="0" marL="0">
              <a:buNone/>
            </a:pPr>
            <a:r>
              <a:rPr lang="en-US" sz="1000" dirty="0">
                <a:solidFill>
                  <a:srgbClr val="4A4E7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indent="0" marL="0">
              <a:buNone/>
            </a:pPr>
            <a:r>
              <a:rPr lang="en-US" sz="3200" b="1" dirty="0">
                <a:solidFill>
                  <a:srgbClr val="13153A"/>
                </a:solidFill>
                <a:latin typeface="Cambria" pitchFamily="34" charset="0"/>
                <a:ea typeface="Cambria" pitchFamily="34" charset="-122"/>
                <a:cs typeface="Cambria" pitchFamily="34" charset="-120"/>
              </a:rPr>
              <a:t>Try it yourself</a:t>
            </a:r>
            <a:endParaRPr lang="en-US" sz="3200" dirty="0"/>
          </a:p>
        </p:txBody>
      </p:sp>
      <p:sp>
        <p:nvSpPr>
          <p:cNvPr id="3" name="Text 1"/>
          <p:cNvSpPr/>
          <p:nvPr/>
        </p:nvSpPr>
        <p:spPr>
          <a:xfrm>
            <a:off x="548640" y="1051560"/>
            <a:ext cx="11091672" cy="457200"/>
          </a:xfrm>
          <a:prstGeom prst="rect">
            <a:avLst/>
          </a:prstGeom>
          <a:noFill/>
          <a:ln/>
        </p:spPr>
        <p:txBody>
          <a:bodyPr wrap="square" lIns="0" tIns="0" rIns="0" bIns="0" rtlCol="0" anchor="ctr"/>
          <a:lstStyle/>
          <a:p>
            <a:pPr indent="0" marL="0">
              <a:buNone/>
            </a:pPr>
            <a:r>
              <a:rPr lang="en-US" sz="1400" dirty="0">
                <a:solidFill>
                  <a:srgbClr val="4A4E7A"/>
                </a:solidFill>
                <a:latin typeface="Calibri" pitchFamily="34" charset="0"/>
                <a:ea typeface="Calibri" pitchFamily="34" charset="-122"/>
                <a:cs typeface="Calibri" pitchFamily="34" charset="-120"/>
              </a:rPr>
              <a:t>One file, opens in any browser, no install and no internet needed: app/index.html</a:t>
            </a:r>
            <a:endParaRPr lang="en-US" sz="1400" dirty="0"/>
          </a:p>
        </p:txBody>
      </p:sp>
      <p:sp>
        <p:nvSpPr>
          <p:cNvPr id="4" name="Shape 2"/>
          <p:cNvSpPr/>
          <p:nvPr/>
        </p:nvSpPr>
        <p:spPr>
          <a:xfrm>
            <a:off x="548640" y="1965960"/>
            <a:ext cx="5303520" cy="1828800"/>
          </a:xfrm>
          <a:prstGeom prst="roundRect">
            <a:avLst>
              <a:gd name="adj" fmla="val 6000"/>
            </a:avLst>
          </a:prstGeom>
          <a:solidFill>
            <a:srgbClr val="F4F5FF"/>
          </a:solidFill>
          <a:ln/>
        </p:spPr>
      </p:sp>
      <p:sp>
        <p:nvSpPr>
          <p:cNvPr id="5" name="Shape 3"/>
          <p:cNvSpPr/>
          <p:nvPr/>
        </p:nvSpPr>
        <p:spPr>
          <a:xfrm>
            <a:off x="822960" y="2240280"/>
            <a:ext cx="685800" cy="685800"/>
          </a:xfrm>
          <a:prstGeom prst="ellipse">
            <a:avLst/>
          </a:prstGeom>
          <a:solidFill>
            <a:srgbClr val="0A17B8"/>
          </a:solidFill>
          <a:ln/>
        </p:spPr>
      </p:sp>
      <p:sp>
        <p:nvSpPr>
          <p:cNvPr id="6" name="Text 4"/>
          <p:cNvSpPr/>
          <p:nvPr/>
        </p:nvSpPr>
        <p:spPr>
          <a:xfrm>
            <a:off x="822960" y="224028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t>
            </a:r>
            <a:endParaRPr lang="en-US" sz="2400" dirty="0"/>
          </a:p>
        </p:txBody>
      </p:sp>
      <p:sp>
        <p:nvSpPr>
          <p:cNvPr id="7" name="Text 5"/>
          <p:cNvSpPr/>
          <p:nvPr/>
        </p:nvSpPr>
        <p:spPr>
          <a:xfrm>
            <a:off x="1691640" y="2240280"/>
            <a:ext cx="3977640" cy="411480"/>
          </a:xfrm>
          <a:prstGeom prst="rect">
            <a:avLst/>
          </a:prstGeom>
          <a:noFill/>
          <a:ln/>
        </p:spPr>
        <p:txBody>
          <a:bodyPr wrap="square" lIns="0" tIns="0" rIns="0" bIns="0" rtlCol="0" anchor="ctr"/>
          <a:lstStyle/>
          <a:p>
            <a:pPr indent="0" marL="0">
              <a:buNone/>
            </a:pPr>
            <a:r>
              <a:rPr lang="en-US" sz="1600" b="1" dirty="0">
                <a:solidFill>
                  <a:srgbClr val="13153A"/>
                </a:solidFill>
                <a:latin typeface="Cambria" pitchFamily="34" charset="0"/>
                <a:ea typeface="Cambria" pitchFamily="34" charset="-122"/>
                <a:cs typeface="Cambria" pitchFamily="34" charset="-120"/>
              </a:rPr>
              <a:t>Daily Double</a:t>
            </a:r>
            <a:endParaRPr lang="en-US" sz="1600" dirty="0"/>
          </a:p>
        </p:txBody>
      </p:sp>
      <p:sp>
        <p:nvSpPr>
          <p:cNvPr id="8" name="Text 6"/>
          <p:cNvSpPr/>
          <p:nvPr/>
        </p:nvSpPr>
        <p:spPr>
          <a:xfrm>
            <a:off x="1691640" y="2679192"/>
            <a:ext cx="3977640" cy="1005840"/>
          </a:xfrm>
          <a:prstGeom prst="rect">
            <a:avLst/>
          </a:prstGeom>
          <a:noFill/>
          <a:ln/>
        </p:spPr>
        <p:txBody>
          <a:bodyPr wrap="square" lIns="0" tIns="0" rIns="0" bIns="0" rtlCol="0" anchor="ctr"/>
          <a:lstStyle/>
          <a:p>
            <a:pPr indent="0" marL="0">
              <a:lnSpc>
                <a:spcPct val="120000"/>
              </a:lnSpc>
              <a:buNone/>
            </a:pPr>
            <a:r>
              <a:rPr lang="en-US" sz="1200" dirty="0">
                <a:solidFill>
                  <a:srgbClr val="4A4E7A"/>
                </a:solidFill>
                <a:latin typeface="Calibri" pitchFamily="34" charset="0"/>
                <a:ea typeface="Calibri" pitchFamily="34" charset="-122"/>
                <a:cs typeface="Calibri" pitchFamily="34" charset="-120"/>
              </a:rPr>
              <a:t>Enter scores, board money, and confidence -- get a wager and a win-probability curve.</a:t>
            </a:r>
            <a:endParaRPr lang="en-US" sz="1200" dirty="0"/>
          </a:p>
        </p:txBody>
      </p:sp>
      <p:sp>
        <p:nvSpPr>
          <p:cNvPr id="9" name="Shape 7"/>
          <p:cNvSpPr/>
          <p:nvPr/>
        </p:nvSpPr>
        <p:spPr>
          <a:xfrm>
            <a:off x="6126480" y="1965960"/>
            <a:ext cx="5303520" cy="1828800"/>
          </a:xfrm>
          <a:prstGeom prst="roundRect">
            <a:avLst>
              <a:gd name="adj" fmla="val 6000"/>
            </a:avLst>
          </a:prstGeom>
          <a:solidFill>
            <a:srgbClr val="F4F5FF"/>
          </a:solidFill>
          <a:ln/>
        </p:spPr>
      </p:sp>
      <p:sp>
        <p:nvSpPr>
          <p:cNvPr id="10" name="Shape 8"/>
          <p:cNvSpPr/>
          <p:nvPr/>
        </p:nvSpPr>
        <p:spPr>
          <a:xfrm>
            <a:off x="6400800" y="2240280"/>
            <a:ext cx="685800" cy="685800"/>
          </a:xfrm>
          <a:prstGeom prst="ellipse">
            <a:avLst/>
          </a:prstGeom>
          <a:solidFill>
            <a:srgbClr val="FFCC00"/>
          </a:solidFill>
          <a:ln/>
        </p:spPr>
      </p:sp>
      <p:sp>
        <p:nvSpPr>
          <p:cNvPr id="11" name="Text 9"/>
          <p:cNvSpPr/>
          <p:nvPr/>
        </p:nvSpPr>
        <p:spPr>
          <a:xfrm>
            <a:off x="6400800" y="2240280"/>
            <a:ext cx="685800" cy="685800"/>
          </a:xfrm>
          <a:prstGeom prst="rect">
            <a:avLst/>
          </a:prstGeom>
          <a:noFill/>
          <a:ln/>
        </p:spPr>
        <p:txBody>
          <a:bodyPr wrap="square" lIns="0" tIns="0" rIns="0" bIns="0" rtlCol="0" anchor="ctr"/>
          <a:lstStyle/>
          <a:p>
            <a:pPr algn="ctr" indent="0" marL="0">
              <a:buNone/>
            </a:pPr>
            <a:r>
              <a:rPr lang="en-US" sz="2400" b="1" dirty="0">
                <a:solidFill>
                  <a:srgbClr val="04086B"/>
                </a:solidFill>
                <a:latin typeface="Cambria" pitchFamily="34" charset="0"/>
                <a:ea typeface="Cambria" pitchFamily="34" charset="-122"/>
                <a:cs typeface="Cambria" pitchFamily="34" charset="-120"/>
              </a:rPr>
              <a:t>?</a:t>
            </a:r>
            <a:endParaRPr lang="en-US" sz="2400" dirty="0"/>
          </a:p>
        </p:txBody>
      </p:sp>
      <p:sp>
        <p:nvSpPr>
          <p:cNvPr id="12" name="Text 10"/>
          <p:cNvSpPr/>
          <p:nvPr/>
        </p:nvSpPr>
        <p:spPr>
          <a:xfrm>
            <a:off x="7269480" y="2240280"/>
            <a:ext cx="3977640" cy="411480"/>
          </a:xfrm>
          <a:prstGeom prst="rect">
            <a:avLst/>
          </a:prstGeom>
          <a:noFill/>
          <a:ln/>
        </p:spPr>
        <p:txBody>
          <a:bodyPr wrap="square" lIns="0" tIns="0" rIns="0" bIns="0" rtlCol="0" anchor="ctr"/>
          <a:lstStyle/>
          <a:p>
            <a:pPr indent="0" marL="0">
              <a:buNone/>
            </a:pPr>
            <a:r>
              <a:rPr lang="en-US" sz="1600" b="1" dirty="0">
                <a:solidFill>
                  <a:srgbClr val="13153A"/>
                </a:solidFill>
                <a:latin typeface="Cambria" pitchFamily="34" charset="0"/>
                <a:ea typeface="Cambria" pitchFamily="34" charset="-122"/>
                <a:cs typeface="Cambria" pitchFamily="34" charset="-120"/>
              </a:rPr>
              <a:t>Final Jeopardy</a:t>
            </a:r>
            <a:endParaRPr lang="en-US" sz="1600" dirty="0"/>
          </a:p>
        </p:txBody>
      </p:sp>
      <p:sp>
        <p:nvSpPr>
          <p:cNvPr id="13" name="Text 11"/>
          <p:cNvSpPr/>
          <p:nvPr/>
        </p:nvSpPr>
        <p:spPr>
          <a:xfrm>
            <a:off x="7269480" y="2679192"/>
            <a:ext cx="3977640" cy="1005840"/>
          </a:xfrm>
          <a:prstGeom prst="rect">
            <a:avLst/>
          </a:prstGeom>
          <a:noFill/>
          <a:ln/>
        </p:spPr>
        <p:txBody>
          <a:bodyPr wrap="square" lIns="0" tIns="0" rIns="0" bIns="0" rtlCol="0" anchor="ctr"/>
          <a:lstStyle/>
          <a:p>
            <a:pPr indent="0" marL="0">
              <a:lnSpc>
                <a:spcPct val="120000"/>
              </a:lnSpc>
              <a:buNone/>
            </a:pPr>
            <a:r>
              <a:rPr lang="en-US" sz="1200" dirty="0">
                <a:solidFill>
                  <a:srgbClr val="4A4E7A"/>
                </a:solidFill>
                <a:latin typeface="Calibri" pitchFamily="34" charset="0"/>
                <a:ea typeface="Calibri" pitchFamily="34" charset="-122"/>
                <a:cs typeface="Calibri" pitchFamily="34" charset="-120"/>
              </a:rPr>
              <a:t>Compare Safe Bet and Smart Bet side by side for any 1-, 2-, or 3-player game.</a:t>
            </a:r>
            <a:endParaRPr lang="en-US" sz="1200" dirty="0"/>
          </a:p>
        </p:txBody>
      </p:sp>
      <p:sp>
        <p:nvSpPr>
          <p:cNvPr id="14" name="Shape 12"/>
          <p:cNvSpPr/>
          <p:nvPr/>
        </p:nvSpPr>
        <p:spPr>
          <a:xfrm>
            <a:off x="548640" y="4023360"/>
            <a:ext cx="5303520" cy="1828800"/>
          </a:xfrm>
          <a:prstGeom prst="roundRect">
            <a:avLst>
              <a:gd name="adj" fmla="val 6000"/>
            </a:avLst>
          </a:prstGeom>
          <a:solidFill>
            <a:srgbClr val="F4F5FF"/>
          </a:solidFill>
          <a:ln/>
        </p:spPr>
      </p:sp>
      <p:sp>
        <p:nvSpPr>
          <p:cNvPr id="15" name="Shape 13"/>
          <p:cNvSpPr/>
          <p:nvPr/>
        </p:nvSpPr>
        <p:spPr>
          <a:xfrm>
            <a:off x="822960" y="4297680"/>
            <a:ext cx="685800" cy="685800"/>
          </a:xfrm>
          <a:prstGeom prst="ellipse">
            <a:avLst/>
          </a:prstGeom>
          <a:solidFill>
            <a:srgbClr val="0A17B8"/>
          </a:solidFill>
          <a:ln/>
        </p:spPr>
      </p:sp>
      <p:sp>
        <p:nvSpPr>
          <p:cNvPr id="16" name="Text 14"/>
          <p:cNvSpPr/>
          <p:nvPr/>
        </p:nvSpPr>
        <p:spPr>
          <a:xfrm>
            <a:off x="822960" y="429768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t>
            </a:r>
            <a:endParaRPr lang="en-US" sz="2400" dirty="0"/>
          </a:p>
        </p:txBody>
      </p:sp>
      <p:sp>
        <p:nvSpPr>
          <p:cNvPr id="17" name="Text 15"/>
          <p:cNvSpPr/>
          <p:nvPr/>
        </p:nvSpPr>
        <p:spPr>
          <a:xfrm>
            <a:off x="1691640" y="4297680"/>
            <a:ext cx="3977640" cy="411480"/>
          </a:xfrm>
          <a:prstGeom prst="rect">
            <a:avLst/>
          </a:prstGeom>
          <a:noFill/>
          <a:ln/>
        </p:spPr>
        <p:txBody>
          <a:bodyPr wrap="square" lIns="0" tIns="0" rIns="0" bIns="0" rtlCol="0" anchor="ctr"/>
          <a:lstStyle/>
          <a:p>
            <a:pPr indent="0" marL="0">
              <a:buNone/>
            </a:pPr>
            <a:r>
              <a:rPr lang="en-US" sz="1600" b="1" dirty="0">
                <a:solidFill>
                  <a:srgbClr val="13153A"/>
                </a:solidFill>
                <a:latin typeface="Cambria" pitchFamily="34" charset="0"/>
                <a:ea typeface="Cambria" pitchFamily="34" charset="-122"/>
                <a:cs typeface="Cambria" pitchFamily="34" charset="-120"/>
              </a:rPr>
              <a:t>Quiz Me</a:t>
            </a:r>
            <a:endParaRPr lang="en-US" sz="1600" dirty="0"/>
          </a:p>
        </p:txBody>
      </p:sp>
      <p:sp>
        <p:nvSpPr>
          <p:cNvPr id="18" name="Text 16"/>
          <p:cNvSpPr/>
          <p:nvPr/>
        </p:nvSpPr>
        <p:spPr>
          <a:xfrm>
            <a:off x="1691640" y="4736592"/>
            <a:ext cx="3977640" cy="1005840"/>
          </a:xfrm>
          <a:prstGeom prst="rect">
            <a:avLst/>
          </a:prstGeom>
          <a:noFill/>
          <a:ln/>
        </p:spPr>
        <p:txBody>
          <a:bodyPr wrap="square" lIns="0" tIns="0" rIns="0" bIns="0" rtlCol="0" anchor="ctr"/>
          <a:lstStyle/>
          <a:p>
            <a:pPr indent="0" marL="0">
              <a:lnSpc>
                <a:spcPct val="120000"/>
              </a:lnSpc>
              <a:buNone/>
            </a:pPr>
            <a:r>
              <a:rPr lang="en-US" sz="1200" dirty="0">
                <a:solidFill>
                  <a:srgbClr val="4A4E7A"/>
                </a:solidFill>
                <a:latin typeface="Calibri" pitchFamily="34" charset="0"/>
                <a:ea typeface="Calibri" pitchFamily="34" charset="-122"/>
                <a:cs typeface="Calibri" pitchFamily="34" charset="-120"/>
              </a:rPr>
              <a:t>Random scenarios, graded A+ to D against the optimal play, with streaks.</a:t>
            </a:r>
            <a:endParaRPr lang="en-US" sz="1200" dirty="0"/>
          </a:p>
        </p:txBody>
      </p:sp>
      <p:sp>
        <p:nvSpPr>
          <p:cNvPr id="19" name="Shape 17"/>
          <p:cNvSpPr/>
          <p:nvPr/>
        </p:nvSpPr>
        <p:spPr>
          <a:xfrm>
            <a:off x="6126480" y="4023360"/>
            <a:ext cx="5303520" cy="1828800"/>
          </a:xfrm>
          <a:prstGeom prst="roundRect">
            <a:avLst>
              <a:gd name="adj" fmla="val 6000"/>
            </a:avLst>
          </a:prstGeom>
          <a:solidFill>
            <a:srgbClr val="F4F5FF"/>
          </a:solidFill>
          <a:ln/>
        </p:spPr>
      </p:sp>
      <p:sp>
        <p:nvSpPr>
          <p:cNvPr id="20" name="Shape 18"/>
          <p:cNvSpPr/>
          <p:nvPr/>
        </p:nvSpPr>
        <p:spPr>
          <a:xfrm>
            <a:off x="6400800" y="4297680"/>
            <a:ext cx="685800" cy="685800"/>
          </a:xfrm>
          <a:prstGeom prst="ellipse">
            <a:avLst/>
          </a:prstGeom>
          <a:solidFill>
            <a:srgbClr val="FFCC00"/>
          </a:solidFill>
          <a:ln/>
        </p:spPr>
      </p:sp>
      <p:sp>
        <p:nvSpPr>
          <p:cNvPr id="21" name="Text 19"/>
          <p:cNvSpPr/>
          <p:nvPr/>
        </p:nvSpPr>
        <p:spPr>
          <a:xfrm>
            <a:off x="6400800" y="4297680"/>
            <a:ext cx="685800" cy="685800"/>
          </a:xfrm>
          <a:prstGeom prst="rect">
            <a:avLst/>
          </a:prstGeom>
          <a:noFill/>
          <a:ln/>
        </p:spPr>
        <p:txBody>
          <a:bodyPr wrap="square" lIns="0" tIns="0" rIns="0" bIns="0" rtlCol="0" anchor="ctr"/>
          <a:lstStyle/>
          <a:p>
            <a:pPr algn="ctr" indent="0" marL="0">
              <a:buNone/>
            </a:pPr>
            <a:r>
              <a:rPr lang="en-US" sz="2400" b="1" dirty="0">
                <a:solidFill>
                  <a:srgbClr val="04086B"/>
                </a:solidFill>
                <a:latin typeface="Cambria" pitchFamily="34" charset="0"/>
                <a:ea typeface="Cambria" pitchFamily="34" charset="-122"/>
                <a:cs typeface="Cambria" pitchFamily="34" charset="-120"/>
              </a:rPr>
              <a:t>i</a:t>
            </a:r>
            <a:endParaRPr lang="en-US" sz="2400" dirty="0"/>
          </a:p>
        </p:txBody>
      </p:sp>
      <p:sp>
        <p:nvSpPr>
          <p:cNvPr id="22" name="Text 20"/>
          <p:cNvSpPr/>
          <p:nvPr/>
        </p:nvSpPr>
        <p:spPr>
          <a:xfrm>
            <a:off x="7269480" y="4297680"/>
            <a:ext cx="3977640" cy="411480"/>
          </a:xfrm>
          <a:prstGeom prst="rect">
            <a:avLst/>
          </a:prstGeom>
          <a:noFill/>
          <a:ln/>
        </p:spPr>
        <p:txBody>
          <a:bodyPr wrap="square" lIns="0" tIns="0" rIns="0" bIns="0" rtlCol="0" anchor="ctr"/>
          <a:lstStyle/>
          <a:p>
            <a:pPr indent="0" marL="0">
              <a:buNone/>
            </a:pPr>
            <a:r>
              <a:rPr lang="en-US" sz="1600" b="1" dirty="0">
                <a:solidFill>
                  <a:srgbClr val="13153A"/>
                </a:solidFill>
                <a:latin typeface="Cambria" pitchFamily="34" charset="0"/>
                <a:ea typeface="Cambria" pitchFamily="34" charset="-122"/>
                <a:cs typeface="Cambria" pitchFamily="34" charset="-120"/>
              </a:rPr>
              <a:t>How This Works</a:t>
            </a:r>
            <a:endParaRPr lang="en-US" sz="1600" dirty="0"/>
          </a:p>
        </p:txBody>
      </p:sp>
      <p:sp>
        <p:nvSpPr>
          <p:cNvPr id="23" name="Text 21"/>
          <p:cNvSpPr/>
          <p:nvPr/>
        </p:nvSpPr>
        <p:spPr>
          <a:xfrm>
            <a:off x="7269480" y="4736592"/>
            <a:ext cx="3977640" cy="1005840"/>
          </a:xfrm>
          <a:prstGeom prst="rect">
            <a:avLst/>
          </a:prstGeom>
          <a:noFill/>
          <a:ln/>
        </p:spPr>
        <p:txBody>
          <a:bodyPr wrap="square" lIns="0" tIns="0" rIns="0" bIns="0" rtlCol="0" anchor="ctr"/>
          <a:lstStyle/>
          <a:p>
            <a:pPr indent="0" marL="0">
              <a:lnSpc>
                <a:spcPct val="120000"/>
              </a:lnSpc>
              <a:buNone/>
            </a:pPr>
            <a:r>
              <a:rPr lang="en-US" sz="1200" dirty="0">
                <a:solidFill>
                  <a:srgbClr val="4A4E7A"/>
                </a:solidFill>
                <a:latin typeface="Calibri" pitchFamily="34" charset="0"/>
                <a:ea typeface="Calibri" pitchFamily="34" charset="-122"/>
                <a:cs typeface="Calibri" pitchFamily="34" charset="-120"/>
              </a:rPr>
              <a:t>A plain-language explanation of every tier, linked back to the full docs.</a:t>
            </a:r>
            <a:endParaRPr lang="en-US" sz="1200" dirty="0"/>
          </a:p>
        </p:txBody>
      </p:sp>
      <p:sp>
        <p:nvSpPr>
          <p:cNvPr id="24" name="Text 22"/>
          <p:cNvSpPr/>
          <p:nvPr/>
        </p:nvSpPr>
        <p:spPr>
          <a:xfrm>
            <a:off x="11475720" y="6446520"/>
            <a:ext cx="457200" cy="274320"/>
          </a:xfrm>
          <a:prstGeom prst="rect">
            <a:avLst/>
          </a:prstGeom>
          <a:noFill/>
          <a:ln/>
        </p:spPr>
        <p:txBody>
          <a:bodyPr wrap="square" lIns="0" tIns="0" rIns="0" bIns="0" rtlCol="0" anchor="ctr"/>
          <a:lstStyle/>
          <a:p>
            <a:pPr algn="r" indent="0" marL="0">
              <a:buNone/>
            </a:pPr>
            <a:r>
              <a:rPr lang="en-US" sz="1000" dirty="0">
                <a:solidFill>
                  <a:srgbClr val="4A4E7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indent="0" marL="0">
              <a:buNone/>
            </a:pPr>
            <a:r>
              <a:rPr lang="en-US" sz="3200" b="1" dirty="0">
                <a:solidFill>
                  <a:srgbClr val="13153A"/>
                </a:solidFill>
                <a:latin typeface="Cambria" pitchFamily="34" charset="0"/>
                <a:ea typeface="Cambria" pitchFamily="34" charset="-122"/>
                <a:cs typeface="Cambria" pitchFamily="34" charset="-120"/>
              </a:rPr>
              <a:t>What's proven, what's a placeholder</a:t>
            </a:r>
            <a:endParaRPr lang="en-US" sz="3200" dirty="0"/>
          </a:p>
        </p:txBody>
      </p:sp>
      <p:sp>
        <p:nvSpPr>
          <p:cNvPr id="3" name="Text 1"/>
          <p:cNvSpPr/>
          <p:nvPr/>
        </p:nvSpPr>
        <p:spPr>
          <a:xfrm>
            <a:off x="548640" y="1051560"/>
            <a:ext cx="11091672" cy="457200"/>
          </a:xfrm>
          <a:prstGeom prst="rect">
            <a:avLst/>
          </a:prstGeom>
          <a:noFill/>
          <a:ln/>
        </p:spPr>
        <p:txBody>
          <a:bodyPr wrap="square" lIns="0" tIns="0" rIns="0" bIns="0" rtlCol="0" anchor="ctr"/>
          <a:lstStyle/>
          <a:p>
            <a:pPr indent="0" marL="0">
              <a:buNone/>
            </a:pPr>
            <a:r>
              <a:rPr lang="en-US" sz="1400" dirty="0">
                <a:solidFill>
                  <a:srgbClr val="4A4E7A"/>
                </a:solidFill>
                <a:latin typeface="Calibri" pitchFamily="34" charset="0"/>
                <a:ea typeface="Calibri" pitchFamily="34" charset="-122"/>
                <a:cs typeface="Calibri" pitchFamily="34" charset="-120"/>
              </a:rPr>
              <a:t>Told plainly, on purpose -- the goal is a tool you can trust precisely as much as it's earned.</a:t>
            </a:r>
            <a:endParaRPr lang="en-US" sz="1400" dirty="0"/>
          </a:p>
        </p:txBody>
      </p:sp>
      <p:sp>
        <p:nvSpPr>
          <p:cNvPr id="4" name="Shape 2"/>
          <p:cNvSpPr/>
          <p:nvPr/>
        </p:nvSpPr>
        <p:spPr>
          <a:xfrm>
            <a:off x="548640" y="1965960"/>
            <a:ext cx="5394960" cy="4206240"/>
          </a:xfrm>
          <a:prstGeom prst="roundRect">
            <a:avLst>
              <a:gd name="adj" fmla="val 2609"/>
            </a:avLst>
          </a:prstGeom>
          <a:solidFill>
            <a:srgbClr val="EDF7EF"/>
          </a:solidFill>
          <a:ln/>
        </p:spPr>
      </p:sp>
      <p:sp>
        <p:nvSpPr>
          <p:cNvPr id="5" name="Text 3"/>
          <p:cNvSpPr/>
          <p:nvPr/>
        </p:nvSpPr>
        <p:spPr>
          <a:xfrm>
            <a:off x="822960" y="2148840"/>
            <a:ext cx="4846320" cy="365760"/>
          </a:xfrm>
          <a:prstGeom prst="rect">
            <a:avLst/>
          </a:prstGeom>
          <a:noFill/>
          <a:ln/>
        </p:spPr>
        <p:txBody>
          <a:bodyPr wrap="square" lIns="0" tIns="0" rIns="0" bIns="0" rtlCol="0" anchor="ctr"/>
          <a:lstStyle/>
          <a:p>
            <a:pPr indent="0" marL="0">
              <a:buNone/>
            </a:pPr>
            <a:r>
              <a:rPr lang="en-US" sz="1600" b="1" dirty="0">
                <a:solidFill>
                  <a:srgbClr val="1F7A34"/>
                </a:solidFill>
                <a:latin typeface="Cambria" pitchFamily="34" charset="0"/>
                <a:ea typeface="Cambria" pitchFamily="34" charset="-122"/>
                <a:cs typeface="Cambria" pitchFamily="34" charset="-120"/>
              </a:rPr>
              <a:t>SOLID</a:t>
            </a:r>
            <a:endParaRPr lang="en-US" sz="1600" dirty="0"/>
          </a:p>
        </p:txBody>
      </p:sp>
      <p:sp>
        <p:nvSpPr>
          <p:cNvPr id="6" name="Text 4"/>
          <p:cNvSpPr/>
          <p:nvPr/>
        </p:nvSpPr>
        <p:spPr>
          <a:xfrm>
            <a:off x="822960" y="2606040"/>
            <a:ext cx="4846320" cy="822960"/>
          </a:xfrm>
          <a:prstGeom prst="rect">
            <a:avLst/>
          </a:prstGeom>
          <a:noFill/>
          <a:ln/>
        </p:spPr>
        <p:txBody>
          <a:bodyPr wrap="square" lIns="0" tIns="0" rIns="0" bIns="0" rtlCol="0" anchor="ctr"/>
          <a:lstStyle/>
          <a:p>
            <a:pPr marL="342900" indent="-342900">
              <a:lnSpc>
                <a:spcPct val="120000"/>
              </a:lnSpc>
              <a:buSzPct val="100000"/>
              <a:buChar char="•"/>
            </a:pPr>
            <a:r>
              <a:rPr lang="en-US" sz="1300" dirty="0">
                <a:solidFill>
                  <a:srgbClr val="13153A"/>
                </a:solidFill>
                <a:latin typeface="Calibri" pitchFamily="34" charset="0"/>
                <a:ea typeface="Calibri" pitchFamily="34" charset="-122"/>
                <a:cs typeface="Calibri" pitchFamily="34" charset="-120"/>
              </a:rPr>
              <a:t>Safe Bet's guarantee math -- fully determined, no confidence input needed</a:t>
            </a:r>
            <a:endParaRPr lang="en-US" sz="1300" dirty="0"/>
          </a:p>
        </p:txBody>
      </p:sp>
      <p:sp>
        <p:nvSpPr>
          <p:cNvPr id="7" name="Text 5"/>
          <p:cNvSpPr/>
          <p:nvPr/>
        </p:nvSpPr>
        <p:spPr>
          <a:xfrm>
            <a:off x="822960" y="3474720"/>
            <a:ext cx="4846320" cy="822960"/>
          </a:xfrm>
          <a:prstGeom prst="rect">
            <a:avLst/>
          </a:prstGeom>
          <a:noFill/>
          <a:ln/>
        </p:spPr>
        <p:txBody>
          <a:bodyPr wrap="square" lIns="0" tIns="0" rIns="0" bIns="0" rtlCol="0" anchor="ctr"/>
          <a:lstStyle/>
          <a:p>
            <a:pPr marL="342900" indent="-342900">
              <a:lnSpc>
                <a:spcPct val="120000"/>
              </a:lnSpc>
              <a:buSzPct val="100000"/>
              <a:buChar char="•"/>
            </a:pPr>
            <a:r>
              <a:rPr lang="en-US" sz="1300" dirty="0">
                <a:solidFill>
                  <a:srgbClr val="13153A"/>
                </a:solidFill>
                <a:latin typeface="Calibri" pitchFamily="34" charset="0"/>
                <a:ea typeface="Calibri" pitchFamily="34" charset="-122"/>
                <a:cs typeface="Calibri" pitchFamily="34" charset="-120"/>
              </a:rPr>
              <a:t>Smart Bet's exact win-probability math, for a given opponent model</a:t>
            </a:r>
            <a:endParaRPr lang="en-US" sz="1300" dirty="0"/>
          </a:p>
        </p:txBody>
      </p:sp>
      <p:sp>
        <p:nvSpPr>
          <p:cNvPr id="8" name="Text 6"/>
          <p:cNvSpPr/>
          <p:nvPr/>
        </p:nvSpPr>
        <p:spPr>
          <a:xfrm>
            <a:off x="822960" y="4343400"/>
            <a:ext cx="4846320" cy="822960"/>
          </a:xfrm>
          <a:prstGeom prst="rect">
            <a:avLst/>
          </a:prstGeom>
          <a:noFill/>
          <a:ln/>
        </p:spPr>
        <p:txBody>
          <a:bodyPr wrap="square" lIns="0" tIns="0" rIns="0" bIns="0" rtlCol="0" anchor="ctr"/>
          <a:lstStyle/>
          <a:p>
            <a:pPr marL="342900" indent="-342900">
              <a:lnSpc>
                <a:spcPct val="120000"/>
              </a:lnSpc>
              <a:buSzPct val="100000"/>
              <a:buChar char="•"/>
            </a:pPr>
            <a:r>
              <a:rPr lang="en-US" sz="1300" dirty="0">
                <a:solidFill>
                  <a:srgbClr val="13153A"/>
                </a:solidFill>
                <a:latin typeface="Calibri" pitchFamily="34" charset="0"/>
                <a:ea typeface="Calibri" pitchFamily="34" charset="-122"/>
                <a:cs typeface="Calibri" pitchFamily="34" charset="-120"/>
              </a:rPr>
              <a:t>The Daily Double engine's statistical selection -- no longer fooled by simulation noise</a:t>
            </a:r>
            <a:endParaRPr lang="en-US" sz="1300" dirty="0"/>
          </a:p>
        </p:txBody>
      </p:sp>
      <p:sp>
        <p:nvSpPr>
          <p:cNvPr id="9" name="Text 7"/>
          <p:cNvSpPr/>
          <p:nvPr/>
        </p:nvSpPr>
        <p:spPr>
          <a:xfrm>
            <a:off x="822960" y="5212080"/>
            <a:ext cx="4846320" cy="822960"/>
          </a:xfrm>
          <a:prstGeom prst="rect">
            <a:avLst/>
          </a:prstGeom>
          <a:noFill/>
          <a:ln/>
        </p:spPr>
        <p:txBody>
          <a:bodyPr wrap="square" lIns="0" tIns="0" rIns="0" bIns="0" rtlCol="0" anchor="ctr"/>
          <a:lstStyle/>
          <a:p>
            <a:pPr marL="342900" indent="-342900">
              <a:lnSpc>
                <a:spcPct val="120000"/>
              </a:lnSpc>
              <a:buSzPct val="100000"/>
              <a:buChar char="•"/>
            </a:pPr>
            <a:r>
              <a:rPr lang="en-US" sz="1300" dirty="0">
                <a:solidFill>
                  <a:srgbClr val="13153A"/>
                </a:solidFill>
                <a:latin typeface="Calibri" pitchFamily="34" charset="0"/>
                <a:ea typeface="Calibri" pitchFamily="34" charset="-122"/>
                <a:cs typeface="Calibri" pitchFamily="34" charset="-120"/>
              </a:rPr>
              <a:t>30 automated tests, hand-derived where possible -- not just checked against the code's own output</a:t>
            </a:r>
            <a:endParaRPr lang="en-US" sz="1300" dirty="0"/>
          </a:p>
        </p:txBody>
      </p:sp>
      <p:sp>
        <p:nvSpPr>
          <p:cNvPr id="10" name="Shape 8"/>
          <p:cNvSpPr/>
          <p:nvPr/>
        </p:nvSpPr>
        <p:spPr>
          <a:xfrm>
            <a:off x="6245352" y="1965960"/>
            <a:ext cx="5394960" cy="4206240"/>
          </a:xfrm>
          <a:prstGeom prst="roundRect">
            <a:avLst>
              <a:gd name="adj" fmla="val 2609"/>
            </a:avLst>
          </a:prstGeom>
          <a:solidFill>
            <a:srgbClr val="FFF4E0"/>
          </a:solidFill>
          <a:ln/>
        </p:spPr>
      </p:sp>
      <p:sp>
        <p:nvSpPr>
          <p:cNvPr id="11" name="Text 9"/>
          <p:cNvSpPr/>
          <p:nvPr/>
        </p:nvSpPr>
        <p:spPr>
          <a:xfrm>
            <a:off x="6519672" y="2148840"/>
            <a:ext cx="4846320" cy="365760"/>
          </a:xfrm>
          <a:prstGeom prst="rect">
            <a:avLst/>
          </a:prstGeom>
          <a:noFill/>
          <a:ln/>
        </p:spPr>
        <p:txBody>
          <a:bodyPr wrap="square" lIns="0" tIns="0" rIns="0" bIns="0" rtlCol="0" anchor="ctr"/>
          <a:lstStyle/>
          <a:p>
            <a:pPr indent="0" marL="0">
              <a:buNone/>
            </a:pPr>
            <a:r>
              <a:rPr lang="en-US" sz="1600" b="1" dirty="0">
                <a:solidFill>
                  <a:srgbClr val="A6720F"/>
                </a:solidFill>
                <a:latin typeface="Cambria" pitchFamily="34" charset="0"/>
                <a:ea typeface="Cambria" pitchFamily="34" charset="-122"/>
                <a:cs typeface="Cambria" pitchFamily="34" charset="-120"/>
              </a:rPr>
              <a:t>PLACEHOLDER</a:t>
            </a:r>
            <a:endParaRPr lang="en-US" sz="1600" dirty="0"/>
          </a:p>
        </p:txBody>
      </p:sp>
      <p:sp>
        <p:nvSpPr>
          <p:cNvPr id="12" name="Text 10"/>
          <p:cNvSpPr/>
          <p:nvPr/>
        </p:nvSpPr>
        <p:spPr>
          <a:xfrm>
            <a:off x="6519672" y="2606040"/>
            <a:ext cx="4846320" cy="960120"/>
          </a:xfrm>
          <a:prstGeom prst="rect">
            <a:avLst/>
          </a:prstGeom>
          <a:noFill/>
          <a:ln/>
        </p:spPr>
        <p:txBody>
          <a:bodyPr wrap="square" lIns="0" tIns="0" rIns="0" bIns="0" rtlCol="0" anchor="ctr"/>
          <a:lstStyle/>
          <a:p>
            <a:pPr marL="342900" indent="-342900">
              <a:lnSpc>
                <a:spcPct val="120000"/>
              </a:lnSpc>
              <a:buSzPct val="100000"/>
              <a:buChar char="•"/>
            </a:pPr>
            <a:r>
              <a:rPr lang="en-US" sz="1300" dirty="0">
                <a:solidFill>
                  <a:srgbClr val="13153A"/>
                </a:solidFill>
                <a:latin typeface="Calibri" pitchFamily="34" charset="0"/>
                <a:ea typeface="Calibri" pitchFamily="34" charset="-122"/>
                <a:cs typeface="Calibri" pitchFamily="34" charset="-120"/>
              </a:rPr>
              <a:t>How opponents actually tend to wager and answer -- a labeled guess, not fitted to real data yet</a:t>
            </a:r>
            <a:endParaRPr lang="en-US" sz="1300" dirty="0"/>
          </a:p>
        </p:txBody>
      </p:sp>
      <p:sp>
        <p:nvSpPr>
          <p:cNvPr id="13" name="Text 11"/>
          <p:cNvSpPr/>
          <p:nvPr/>
        </p:nvSpPr>
        <p:spPr>
          <a:xfrm>
            <a:off x="6519672" y="3611880"/>
            <a:ext cx="4846320" cy="960120"/>
          </a:xfrm>
          <a:prstGeom prst="rect">
            <a:avLst/>
          </a:prstGeom>
          <a:noFill/>
          <a:ln/>
        </p:spPr>
        <p:txBody>
          <a:bodyPr wrap="square" lIns="0" tIns="0" rIns="0" bIns="0" rtlCol="0" anchor="ctr"/>
          <a:lstStyle/>
          <a:p>
            <a:pPr marL="342900" indent="-342900">
              <a:lnSpc>
                <a:spcPct val="120000"/>
              </a:lnSpc>
              <a:buSzPct val="100000"/>
              <a:buChar char="•"/>
            </a:pPr>
            <a:r>
              <a:rPr lang="en-US" sz="1300" dirty="0">
                <a:solidFill>
                  <a:srgbClr val="13153A"/>
                </a:solidFill>
                <a:latin typeface="Calibri" pitchFamily="34" charset="0"/>
                <a:ea typeface="Calibri" pitchFamily="34" charset="-122"/>
                <a:cs typeface="Calibri" pitchFamily="34" charset="-120"/>
              </a:rPr>
              <a:t>Regular-clue and future-Daily-Double dynamics -- simplified, ignores buzzer competition</a:t>
            </a:r>
            <a:endParaRPr lang="en-US" sz="1300" dirty="0"/>
          </a:p>
        </p:txBody>
      </p:sp>
      <p:sp>
        <p:nvSpPr>
          <p:cNvPr id="14" name="Text 12"/>
          <p:cNvSpPr/>
          <p:nvPr/>
        </p:nvSpPr>
        <p:spPr>
          <a:xfrm>
            <a:off x="6519672" y="4617720"/>
            <a:ext cx="4846320" cy="960120"/>
          </a:xfrm>
          <a:prstGeom prst="rect">
            <a:avLst/>
          </a:prstGeom>
          <a:noFill/>
          <a:ln/>
        </p:spPr>
        <p:txBody>
          <a:bodyPr wrap="square" lIns="0" tIns="0" rIns="0" bIns="0" rtlCol="0" anchor="ctr"/>
          <a:lstStyle/>
          <a:p>
            <a:pPr marL="342900" indent="-342900">
              <a:lnSpc>
                <a:spcPct val="120000"/>
              </a:lnSpc>
              <a:buSzPct val="100000"/>
              <a:buChar char="•"/>
            </a:pPr>
            <a:r>
              <a:rPr lang="en-US" sz="1300" dirty="0">
                <a:solidFill>
                  <a:srgbClr val="13153A"/>
                </a:solidFill>
                <a:latin typeface="Calibri" pitchFamily="34" charset="0"/>
                <a:ea typeface="Calibri" pitchFamily="34" charset="-122"/>
                <a:cs typeface="Calibri" pitchFamily="34" charset="-120"/>
              </a:rPr>
              <a:t>The JavaScript app's parity with the Python engine -- checked by hand, not by automated CI yet</a:t>
            </a:r>
            <a:endParaRPr lang="en-US" sz="1300" dirty="0"/>
          </a:p>
        </p:txBody>
      </p:sp>
      <p:sp>
        <p:nvSpPr>
          <p:cNvPr id="15" name="Text 13"/>
          <p:cNvSpPr/>
          <p:nvPr/>
        </p:nvSpPr>
        <p:spPr>
          <a:xfrm>
            <a:off x="11475720" y="6446520"/>
            <a:ext cx="457200" cy="274320"/>
          </a:xfrm>
          <a:prstGeom prst="rect">
            <a:avLst/>
          </a:prstGeom>
          <a:noFill/>
          <a:ln/>
        </p:spPr>
        <p:txBody>
          <a:bodyPr wrap="square" lIns="0" tIns="0" rIns="0" bIns="0" rtlCol="0" anchor="ctr"/>
          <a:lstStyle/>
          <a:p>
            <a:pPr algn="r" indent="0" marL="0">
              <a:buNone/>
            </a:pPr>
            <a:r>
              <a:rPr lang="en-US" sz="1000" dirty="0">
                <a:solidFill>
                  <a:srgbClr val="4A4E7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4086B"/>
        </a:solidFill>
      </p:bgPr>
    </p:bg>
    <p:spTree>
      <p:nvGrpSpPr>
        <p:cNvPr id="1" name=""/>
        <p:cNvGrpSpPr/>
        <p:nvPr/>
      </p:nvGrpSpPr>
      <p:grpSpPr>
        <a:xfrm>
          <a:off x="0" y="0"/>
          <a:ext cx="0" cy="0"/>
          <a:chOff x="0" y="0"/>
          <a:chExt cx="0" cy="0"/>
        </a:xfrm>
      </p:grpSpPr>
      <p:sp>
        <p:nvSpPr>
          <p:cNvPr id="2" name="Text 0"/>
          <p:cNvSpPr/>
          <p:nvPr/>
        </p:nvSpPr>
        <p:spPr>
          <a:xfrm>
            <a:off x="731520" y="822960"/>
            <a:ext cx="10725912" cy="731520"/>
          </a:xfrm>
          <a:prstGeom prst="rect">
            <a:avLst/>
          </a:prstGeom>
          <a:noFill/>
          <a:ln/>
        </p:spPr>
        <p:txBody>
          <a:bodyPr wrap="square" lIns="0" tIns="0" rIns="0" bIns="0" rtlCol="0" anchor="ctr"/>
          <a:lstStyle/>
          <a:p>
            <a:pPr algn="ctr" indent="0" marL="0">
              <a:buNone/>
            </a:pPr>
            <a:r>
              <a:rPr lang="en-US" sz="3400" b="1" dirty="0">
                <a:solidFill>
                  <a:srgbClr val="FFCC00"/>
                </a:solidFill>
                <a:latin typeface="Cambria" pitchFamily="34" charset="0"/>
                <a:ea typeface="Cambria" pitchFamily="34" charset="-122"/>
                <a:cs typeface="Cambria" pitchFamily="34" charset="-120"/>
              </a:rPr>
              <a:t>Get started</a:t>
            </a:r>
            <a:endParaRPr lang="en-US" sz="3400" dirty="0"/>
          </a:p>
        </p:txBody>
      </p:sp>
      <p:sp>
        <p:nvSpPr>
          <p:cNvPr id="3" name="Shape 1"/>
          <p:cNvSpPr/>
          <p:nvPr/>
        </p:nvSpPr>
        <p:spPr>
          <a:xfrm>
            <a:off x="3291840" y="1920240"/>
            <a:ext cx="640080" cy="640080"/>
          </a:xfrm>
          <a:prstGeom prst="ellipse">
            <a:avLst/>
          </a:prstGeom>
          <a:solidFill>
            <a:srgbClr val="FFCC00"/>
          </a:solidFill>
          <a:ln/>
        </p:spPr>
      </p:sp>
      <p:sp>
        <p:nvSpPr>
          <p:cNvPr id="4" name="Text 2"/>
          <p:cNvSpPr/>
          <p:nvPr/>
        </p:nvSpPr>
        <p:spPr>
          <a:xfrm>
            <a:off x="3291840" y="1920240"/>
            <a:ext cx="640080" cy="640080"/>
          </a:xfrm>
          <a:prstGeom prst="rect">
            <a:avLst/>
          </a:prstGeom>
          <a:noFill/>
          <a:ln/>
        </p:spPr>
        <p:txBody>
          <a:bodyPr wrap="square" lIns="0" tIns="0" rIns="0" bIns="0" rtlCol="0" anchor="ctr"/>
          <a:lstStyle/>
          <a:p>
            <a:pPr algn="ctr" indent="0" marL="0">
              <a:buNone/>
            </a:pPr>
            <a:r>
              <a:rPr lang="en-US" sz="2400" b="1" dirty="0">
                <a:solidFill>
                  <a:srgbClr val="04086B"/>
                </a:solidFill>
                <a:latin typeface="Cambria" pitchFamily="34" charset="0"/>
                <a:ea typeface="Cambria" pitchFamily="34" charset="-122"/>
                <a:cs typeface="Cambria" pitchFamily="34" charset="-120"/>
              </a:rPr>
              <a:t>1</a:t>
            </a:r>
            <a:endParaRPr lang="en-US" sz="2400" dirty="0"/>
          </a:p>
        </p:txBody>
      </p:sp>
      <p:sp>
        <p:nvSpPr>
          <p:cNvPr id="5" name="Text 3"/>
          <p:cNvSpPr/>
          <p:nvPr/>
        </p:nvSpPr>
        <p:spPr>
          <a:xfrm>
            <a:off x="4160520" y="1965960"/>
            <a:ext cx="5029200" cy="548640"/>
          </a:xfrm>
          <a:prstGeom prst="rect">
            <a:avLst/>
          </a:prstGeom>
          <a:noFill/>
          <a:ln/>
        </p:spPr>
        <p:txBody>
          <a:bodyPr wrap="square" lIns="0" tIns="0" rIns="0" bIns="0" rtlCol="0" anchor="ctr"/>
          <a:lstStyle/>
          <a:p>
            <a:pPr indent="0" marL="0">
              <a:buNone/>
            </a:pPr>
            <a:r>
              <a:rPr lang="en-US" sz="1700" dirty="0">
                <a:solidFill>
                  <a:srgbClr val="E4E7FF"/>
                </a:solidFill>
                <a:latin typeface="Calibri" pitchFamily="34" charset="0"/>
                <a:ea typeface="Calibri" pitchFamily="34" charset="-122"/>
                <a:cs typeface="Calibri" pitchFamily="34" charset="-120"/>
              </a:rPr>
              <a:t>Open app/index.html in any browser</a:t>
            </a:r>
            <a:endParaRPr lang="en-US" sz="1700" dirty="0"/>
          </a:p>
        </p:txBody>
      </p:sp>
      <p:sp>
        <p:nvSpPr>
          <p:cNvPr id="6" name="Shape 4"/>
          <p:cNvSpPr/>
          <p:nvPr/>
        </p:nvSpPr>
        <p:spPr>
          <a:xfrm>
            <a:off x="3291840" y="2971800"/>
            <a:ext cx="640080" cy="640080"/>
          </a:xfrm>
          <a:prstGeom prst="ellipse">
            <a:avLst/>
          </a:prstGeom>
          <a:solidFill>
            <a:srgbClr val="FFCC00"/>
          </a:solidFill>
          <a:ln/>
        </p:spPr>
      </p:sp>
      <p:sp>
        <p:nvSpPr>
          <p:cNvPr id="7" name="Text 5"/>
          <p:cNvSpPr/>
          <p:nvPr/>
        </p:nvSpPr>
        <p:spPr>
          <a:xfrm>
            <a:off x="3291840" y="2971800"/>
            <a:ext cx="640080" cy="640080"/>
          </a:xfrm>
          <a:prstGeom prst="rect">
            <a:avLst/>
          </a:prstGeom>
          <a:noFill/>
          <a:ln/>
        </p:spPr>
        <p:txBody>
          <a:bodyPr wrap="square" lIns="0" tIns="0" rIns="0" bIns="0" rtlCol="0" anchor="ctr"/>
          <a:lstStyle/>
          <a:p>
            <a:pPr algn="ctr" indent="0" marL="0">
              <a:buNone/>
            </a:pPr>
            <a:r>
              <a:rPr lang="en-US" sz="2400" b="1" dirty="0">
                <a:solidFill>
                  <a:srgbClr val="04086B"/>
                </a:solidFill>
                <a:latin typeface="Cambria" pitchFamily="34" charset="0"/>
                <a:ea typeface="Cambria" pitchFamily="34" charset="-122"/>
                <a:cs typeface="Cambria" pitchFamily="34" charset="-120"/>
              </a:rPr>
              <a:t>2</a:t>
            </a:r>
            <a:endParaRPr lang="en-US" sz="2400" dirty="0"/>
          </a:p>
        </p:txBody>
      </p:sp>
      <p:sp>
        <p:nvSpPr>
          <p:cNvPr id="8" name="Text 6"/>
          <p:cNvSpPr/>
          <p:nvPr/>
        </p:nvSpPr>
        <p:spPr>
          <a:xfrm>
            <a:off x="4160520" y="3017520"/>
            <a:ext cx="5029200" cy="548640"/>
          </a:xfrm>
          <a:prstGeom prst="rect">
            <a:avLst/>
          </a:prstGeom>
          <a:noFill/>
          <a:ln/>
        </p:spPr>
        <p:txBody>
          <a:bodyPr wrap="square" lIns="0" tIns="0" rIns="0" bIns="0" rtlCol="0" anchor="ctr"/>
          <a:lstStyle/>
          <a:p>
            <a:pPr indent="0" marL="0">
              <a:buNone/>
            </a:pPr>
            <a:r>
              <a:rPr lang="en-US" sz="1700" dirty="0">
                <a:solidFill>
                  <a:srgbClr val="E4E7FF"/>
                </a:solidFill>
                <a:latin typeface="Calibri" pitchFamily="34" charset="0"/>
                <a:ea typeface="Calibri" pitchFamily="34" charset="-122"/>
                <a:cs typeface="Calibri" pitchFamily="34" charset="-120"/>
              </a:rPr>
              <a:t>Pick Daily Double or Final Jeopardy</a:t>
            </a:r>
            <a:endParaRPr lang="en-US" sz="1700" dirty="0"/>
          </a:p>
        </p:txBody>
      </p:sp>
      <p:sp>
        <p:nvSpPr>
          <p:cNvPr id="9" name="Shape 7"/>
          <p:cNvSpPr/>
          <p:nvPr/>
        </p:nvSpPr>
        <p:spPr>
          <a:xfrm>
            <a:off x="3291840" y="4023360"/>
            <a:ext cx="640080" cy="640080"/>
          </a:xfrm>
          <a:prstGeom prst="ellipse">
            <a:avLst/>
          </a:prstGeom>
          <a:solidFill>
            <a:srgbClr val="FFCC00"/>
          </a:solidFill>
          <a:ln/>
        </p:spPr>
      </p:sp>
      <p:sp>
        <p:nvSpPr>
          <p:cNvPr id="10" name="Text 8"/>
          <p:cNvSpPr/>
          <p:nvPr/>
        </p:nvSpPr>
        <p:spPr>
          <a:xfrm>
            <a:off x="3291840" y="4023360"/>
            <a:ext cx="640080" cy="640080"/>
          </a:xfrm>
          <a:prstGeom prst="rect">
            <a:avLst/>
          </a:prstGeom>
          <a:noFill/>
          <a:ln/>
        </p:spPr>
        <p:txBody>
          <a:bodyPr wrap="square" lIns="0" tIns="0" rIns="0" bIns="0" rtlCol="0" anchor="ctr"/>
          <a:lstStyle/>
          <a:p>
            <a:pPr algn="ctr" indent="0" marL="0">
              <a:buNone/>
            </a:pPr>
            <a:r>
              <a:rPr lang="en-US" sz="2400" b="1" dirty="0">
                <a:solidFill>
                  <a:srgbClr val="04086B"/>
                </a:solidFill>
                <a:latin typeface="Cambria" pitchFamily="34" charset="0"/>
                <a:ea typeface="Cambria" pitchFamily="34" charset="-122"/>
                <a:cs typeface="Cambria" pitchFamily="34" charset="-120"/>
              </a:rPr>
              <a:t>3</a:t>
            </a:r>
            <a:endParaRPr lang="en-US" sz="2400" dirty="0"/>
          </a:p>
        </p:txBody>
      </p:sp>
      <p:sp>
        <p:nvSpPr>
          <p:cNvPr id="11" name="Text 9"/>
          <p:cNvSpPr/>
          <p:nvPr/>
        </p:nvSpPr>
        <p:spPr>
          <a:xfrm>
            <a:off x="4160520" y="4069080"/>
            <a:ext cx="5029200" cy="548640"/>
          </a:xfrm>
          <a:prstGeom prst="rect">
            <a:avLst/>
          </a:prstGeom>
          <a:noFill/>
          <a:ln/>
        </p:spPr>
        <p:txBody>
          <a:bodyPr wrap="square" lIns="0" tIns="0" rIns="0" bIns="0" rtlCol="0" anchor="ctr"/>
          <a:lstStyle/>
          <a:p>
            <a:pPr indent="0" marL="0">
              <a:buNone/>
            </a:pPr>
            <a:r>
              <a:rPr lang="en-US" sz="1700" dirty="0">
                <a:solidFill>
                  <a:srgbClr val="E4E7FF"/>
                </a:solidFill>
                <a:latin typeface="Calibri" pitchFamily="34" charset="0"/>
                <a:ea typeface="Calibri" pitchFamily="34" charset="-122"/>
                <a:cs typeface="Calibri" pitchFamily="34" charset="-120"/>
              </a:rPr>
              <a:t>Enter scores and your confidence</a:t>
            </a:r>
            <a:endParaRPr lang="en-US" sz="1700" dirty="0"/>
          </a:p>
        </p:txBody>
      </p:sp>
      <p:sp>
        <p:nvSpPr>
          <p:cNvPr id="12" name="Shape 10"/>
          <p:cNvSpPr/>
          <p:nvPr/>
        </p:nvSpPr>
        <p:spPr>
          <a:xfrm>
            <a:off x="3291840" y="5074920"/>
            <a:ext cx="640080" cy="640080"/>
          </a:xfrm>
          <a:prstGeom prst="ellipse">
            <a:avLst/>
          </a:prstGeom>
          <a:solidFill>
            <a:srgbClr val="FFCC00"/>
          </a:solidFill>
          <a:ln/>
        </p:spPr>
      </p:sp>
      <p:sp>
        <p:nvSpPr>
          <p:cNvPr id="13" name="Text 11"/>
          <p:cNvSpPr/>
          <p:nvPr/>
        </p:nvSpPr>
        <p:spPr>
          <a:xfrm>
            <a:off x="3291840" y="5074920"/>
            <a:ext cx="640080" cy="640080"/>
          </a:xfrm>
          <a:prstGeom prst="rect">
            <a:avLst/>
          </a:prstGeom>
          <a:noFill/>
          <a:ln/>
        </p:spPr>
        <p:txBody>
          <a:bodyPr wrap="square" lIns="0" tIns="0" rIns="0" bIns="0" rtlCol="0" anchor="ctr"/>
          <a:lstStyle/>
          <a:p>
            <a:pPr algn="ctr" indent="0" marL="0">
              <a:buNone/>
            </a:pPr>
            <a:r>
              <a:rPr lang="en-US" sz="2400" b="1" dirty="0">
                <a:solidFill>
                  <a:srgbClr val="04086B"/>
                </a:solidFill>
                <a:latin typeface="Cambria" pitchFamily="34" charset="0"/>
                <a:ea typeface="Cambria" pitchFamily="34" charset="-122"/>
                <a:cs typeface="Cambria" pitchFamily="34" charset="-120"/>
              </a:rPr>
              <a:t>4</a:t>
            </a:r>
            <a:endParaRPr lang="en-US" sz="2400" dirty="0"/>
          </a:p>
        </p:txBody>
      </p:sp>
      <p:sp>
        <p:nvSpPr>
          <p:cNvPr id="14" name="Text 12"/>
          <p:cNvSpPr/>
          <p:nvPr/>
        </p:nvSpPr>
        <p:spPr>
          <a:xfrm>
            <a:off x="4160520" y="5120640"/>
            <a:ext cx="5029200" cy="548640"/>
          </a:xfrm>
          <a:prstGeom prst="rect">
            <a:avLst/>
          </a:prstGeom>
          <a:noFill/>
          <a:ln/>
        </p:spPr>
        <p:txBody>
          <a:bodyPr wrap="square" lIns="0" tIns="0" rIns="0" bIns="0" rtlCol="0" anchor="ctr"/>
          <a:lstStyle/>
          <a:p>
            <a:pPr indent="0" marL="0">
              <a:buNone/>
            </a:pPr>
            <a:r>
              <a:rPr lang="en-US" sz="1700" dirty="0">
                <a:solidFill>
                  <a:srgbClr val="E4E7FF"/>
                </a:solidFill>
                <a:latin typeface="Calibri" pitchFamily="34" charset="0"/>
                <a:ea typeface="Calibri" pitchFamily="34" charset="-122"/>
                <a:cs typeface="Calibri" pitchFamily="34" charset="-120"/>
              </a:rPr>
              <a:t>Get a recommendation, or drill it in Quiz Me</a:t>
            </a:r>
            <a:endParaRPr lang="en-US" sz="1700" dirty="0"/>
          </a:p>
        </p:txBody>
      </p:sp>
      <p:sp>
        <p:nvSpPr>
          <p:cNvPr id="15" name="Text 13"/>
          <p:cNvSpPr/>
          <p:nvPr/>
        </p:nvSpPr>
        <p:spPr>
          <a:xfrm>
            <a:off x="11475720" y="6446520"/>
            <a:ext cx="457200" cy="274320"/>
          </a:xfrm>
          <a:prstGeom prst="rect">
            <a:avLst/>
          </a:prstGeom>
          <a:noFill/>
          <a:ln/>
        </p:spPr>
        <p:txBody>
          <a:bodyPr wrap="square" lIns="0" tIns="0" rIns="0" bIns="0" rtlCol="0" anchor="ctr"/>
          <a:lstStyle/>
          <a:p>
            <a:pPr algn="r" indent="0" marL="0">
              <a:buNone/>
            </a:pPr>
            <a:r>
              <a:rPr lang="en-US" sz="1000" dirty="0">
                <a:solidFill>
                  <a:srgbClr val="4A4E7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4086B"/>
        </a:solidFill>
      </p:bgPr>
    </p:bg>
    <p:spTree>
      <p:nvGrpSpPr>
        <p:cNvPr id="1" name=""/>
        <p:cNvGrpSpPr/>
        <p:nvPr/>
      </p:nvGrpSpPr>
      <p:grpSpPr>
        <a:xfrm>
          <a:off x="0" y="0"/>
          <a:ext cx="0" cy="0"/>
          <a:chOff x="0" y="0"/>
          <a:chExt cx="0" cy="0"/>
        </a:xfrm>
      </p:grpSpPr>
      <p:sp>
        <p:nvSpPr>
          <p:cNvPr id="2" name="Shape 0"/>
          <p:cNvSpPr/>
          <p:nvPr/>
        </p:nvSpPr>
        <p:spPr>
          <a:xfrm>
            <a:off x="5413248" y="640080"/>
            <a:ext cx="1188720" cy="1188720"/>
          </a:xfrm>
          <a:prstGeom prst="ellipse">
            <a:avLst/>
          </a:prstGeom>
          <a:solidFill>
            <a:srgbClr val="FFCC00"/>
          </a:solidFill>
          <a:ln/>
        </p:spPr>
      </p:sp>
      <p:sp>
        <p:nvSpPr>
          <p:cNvPr id="3" name="Text 1"/>
          <p:cNvSpPr/>
          <p:nvPr/>
        </p:nvSpPr>
        <p:spPr>
          <a:xfrm>
            <a:off x="5413248" y="640080"/>
            <a:ext cx="1188720" cy="1188720"/>
          </a:xfrm>
          <a:prstGeom prst="rect">
            <a:avLst/>
          </a:prstGeom>
          <a:noFill/>
          <a:ln/>
        </p:spPr>
        <p:txBody>
          <a:bodyPr wrap="square" lIns="0" tIns="0" rIns="0" bIns="0" rtlCol="0" anchor="ctr"/>
          <a:lstStyle/>
          <a:p>
            <a:pPr algn="ctr" indent="0" marL="0">
              <a:buNone/>
            </a:pPr>
            <a:r>
              <a:rPr lang="en-US" sz="4400" b="1" dirty="0">
                <a:solidFill>
                  <a:srgbClr val="04086B"/>
                </a:solidFill>
                <a:latin typeface="Cambria" pitchFamily="34" charset="0"/>
                <a:ea typeface="Cambria" pitchFamily="34" charset="-122"/>
                <a:cs typeface="Cambria" pitchFamily="34" charset="-120"/>
              </a:rPr>
              <a:t>i</a:t>
            </a:r>
            <a:endParaRPr lang="en-US" sz="4400" dirty="0"/>
          </a:p>
        </p:txBody>
      </p:sp>
      <p:sp>
        <p:nvSpPr>
          <p:cNvPr id="4" name="Text 2"/>
          <p:cNvSpPr/>
          <p:nvPr/>
        </p:nvSpPr>
        <p:spPr>
          <a:xfrm>
            <a:off x="731520" y="2011680"/>
            <a:ext cx="10725912" cy="731520"/>
          </a:xfrm>
          <a:prstGeom prst="rect">
            <a:avLst/>
          </a:prstGeom>
          <a:noFill/>
          <a:ln/>
        </p:spPr>
        <p:txBody>
          <a:bodyPr wrap="square" lIns="0" tIns="0" rIns="0" bIns="0" rtlCol="0" anchor="ctr"/>
          <a:lstStyle/>
          <a:p>
            <a:pPr algn="ctr" indent="0" marL="0">
              <a:buNone/>
            </a:pPr>
            <a:r>
              <a:rPr lang="en-US" sz="3200" b="1" dirty="0">
                <a:solidFill>
                  <a:srgbClr val="FFCC00"/>
                </a:solidFill>
                <a:latin typeface="Cambria" pitchFamily="34" charset="0"/>
                <a:ea typeface="Cambria" pitchFamily="34" charset="-122"/>
                <a:cs typeface="Cambria" pitchFamily="34" charset="-120"/>
              </a:rPr>
              <a:t>Want the full math?</a:t>
            </a:r>
            <a:endParaRPr lang="en-US" sz="3200" dirty="0"/>
          </a:p>
        </p:txBody>
      </p:sp>
      <p:sp>
        <p:nvSpPr>
          <p:cNvPr id="5" name="Text 3"/>
          <p:cNvSpPr/>
          <p:nvPr/>
        </p:nvSpPr>
        <p:spPr>
          <a:xfrm>
            <a:off x="1645920" y="2834640"/>
            <a:ext cx="8897112" cy="731520"/>
          </a:xfrm>
          <a:prstGeom prst="rect">
            <a:avLst/>
          </a:prstGeom>
          <a:noFill/>
          <a:ln/>
        </p:spPr>
        <p:txBody>
          <a:bodyPr wrap="square" lIns="0" tIns="0" rIns="0" bIns="0" rtlCol="0" anchor="ctr"/>
          <a:lstStyle/>
          <a:p>
            <a:pPr algn="ctr" indent="0" marL="0">
              <a:lnSpc>
                <a:spcPct val="130000"/>
              </a:lnSpc>
              <a:buNone/>
            </a:pPr>
            <a:r>
              <a:rPr lang="en-US" sz="1500" dirty="0">
                <a:solidFill>
                  <a:srgbClr val="E4E7FF"/>
                </a:solidFill>
                <a:latin typeface="Calibri" pitchFamily="34" charset="0"/>
                <a:ea typeface="Calibri" pitchFamily="34" charset="-122"/>
                <a:cs typeface="Calibri" pitchFamily="34" charset="-120"/>
              </a:rPr>
              <a:t>Every claim on these slides is proven or cited in the white paper -- worked examples, full derivations, and references.</a:t>
            </a:r>
            <a:endParaRPr lang="en-US" sz="1500" dirty="0"/>
          </a:p>
        </p:txBody>
      </p:sp>
      <p:sp>
        <p:nvSpPr>
          <p:cNvPr id="6" name="Shape 4"/>
          <p:cNvSpPr/>
          <p:nvPr/>
        </p:nvSpPr>
        <p:spPr>
          <a:xfrm>
            <a:off x="3108960" y="3794760"/>
            <a:ext cx="5943600" cy="960120"/>
          </a:xfrm>
          <a:prstGeom prst="roundRect">
            <a:avLst>
              <a:gd name="adj" fmla="val 14286"/>
            </a:avLst>
          </a:prstGeom>
          <a:solidFill>
            <a:srgbClr val="FFCC00"/>
          </a:solidFill>
          <a:ln/>
        </p:spPr>
      </p:sp>
      <p:sp>
        <p:nvSpPr>
          <p:cNvPr id="7" name="Text 5">
            <a:hlinkClick r:id="rId1" tooltip=""/>
          </p:cNvPr>
          <p:cNvSpPr/>
          <p:nvPr/>
        </p:nvSpPr>
        <p:spPr>
          <a:xfrm>
            <a:off x="3108960" y="3794760"/>
            <a:ext cx="5943600" cy="960120"/>
          </a:xfrm>
          <a:prstGeom prst="rect">
            <a:avLst/>
          </a:prstGeom>
          <a:noFill/>
          <a:ln/>
        </p:spPr>
        <p:txBody>
          <a:bodyPr wrap="square" lIns="0" tIns="0" rIns="0" bIns="0" rtlCol="0" anchor="ctr"/>
          <a:lstStyle/>
          <a:p>
            <a:pPr algn="ctr" indent="0" marL="0">
              <a:buNone/>
            </a:pPr>
            <a:r>
              <a:rPr lang="en-US" sz="2000" b="1" u="sng" dirty="0">
                <a:solidFill>
                  <a:srgbClr val="04086B"/>
                </a:solidFill>
                <a:latin typeface="Cambria" pitchFamily="34" charset="0"/>
                <a:ea typeface="Cambria" pitchFamily="34" charset="-122"/>
                <a:cs typeface="Cambria"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docs/white-paper.md</a:t>
            </a:r>
            <a:endParaRPr lang="en-US" sz="2000" dirty="0"/>
          </a:p>
        </p:txBody>
      </p:sp>
      <p:sp>
        <p:nvSpPr>
          <p:cNvPr id="8" name="Text 6"/>
          <p:cNvSpPr/>
          <p:nvPr/>
        </p:nvSpPr>
        <p:spPr>
          <a:xfrm>
            <a:off x="1645920" y="5074920"/>
            <a:ext cx="8897112" cy="457200"/>
          </a:xfrm>
          <a:prstGeom prst="rect">
            <a:avLst/>
          </a:prstGeom>
          <a:noFill/>
          <a:ln/>
        </p:spPr>
        <p:txBody>
          <a:bodyPr wrap="square" lIns="0" tIns="0" rIns="0" bIns="0" rtlCol="0" anchor="ctr"/>
          <a:lstStyle/>
          <a:p>
            <a:pPr algn="ctr" indent="0" marL="0">
              <a:buNone/>
            </a:pPr>
            <a:r>
              <a:rPr lang="en-US" sz="1200" i="1" dirty="0">
                <a:solidFill>
                  <a:srgbClr val="C9A227"/>
                </a:solidFill>
                <a:latin typeface="Calibri" pitchFamily="34" charset="0"/>
                <a:ea typeface="Calibri" pitchFamily="34" charset="-122"/>
                <a:cs typeface="Calibri" pitchFamily="34" charset="-120"/>
              </a:rPr>
              <a:t>Also see: docs/tutorial/, docs/how-to/, docs/reference/, and docs/explanation/ for task-by-task guides</a:t>
            </a:r>
            <a:endParaRPr lang="en-US" sz="1200" dirty="0"/>
          </a:p>
        </p:txBody>
      </p:sp>
      <p:sp>
        <p:nvSpPr>
          <p:cNvPr id="9" name="Text 7"/>
          <p:cNvSpPr/>
          <p:nvPr/>
        </p:nvSpPr>
        <p:spPr>
          <a:xfrm>
            <a:off x="1645920" y="6126480"/>
            <a:ext cx="8897112" cy="365760"/>
          </a:xfrm>
          <a:prstGeom prst="rect">
            <a:avLst/>
          </a:prstGeom>
          <a:noFill/>
          <a:ln/>
        </p:spPr>
        <p:txBody>
          <a:bodyPr wrap="square" lIns="0" tIns="0" rIns="0" bIns="0" rtlCol="0" anchor="ctr"/>
          <a:lstStyle/>
          <a:p>
            <a:pPr algn="ctr" indent="0" marL="0">
              <a:buNone/>
            </a:pPr>
            <a:r>
              <a:rPr lang="en-US" sz="1100" dirty="0">
                <a:solidFill>
                  <a:srgbClr val="6E74B0"/>
                </a:solidFill>
                <a:latin typeface="Calibri" pitchFamily="34" charset="0"/>
                <a:ea typeface="Calibri" pitchFamily="34" charset="-122"/>
                <a:cs typeface="Calibri" pitchFamily="34" charset="-120"/>
              </a:rPr>
              <a:t>Jeopardy! Wager Trainer -- willhoop.github.io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2026-07-23T07:00:53Z</dcterms:created>
  <dcterms:modified xsi:type="dcterms:W3CDTF">2026-07-23T07:00:53Z</dcterms:modified>
</cp:coreProperties>
</file>